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embedTrueTypeFonts="1" saveSubsetFonts="1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9144000" cy="5143500"/>
  <p:notesSz cx="9144000" cy="5143500"/>
  <p:embeddedFontLst>
    <p:embeddedFont>
      <p:font typeface="SJTELL+Merriweather-Regular"/>
      <p:regular r:id="rId18"/>
    </p:embeddedFont>
    <p:embeddedFont>
      <p:font typeface="QQICHE+Roboto-Light"/>
      <p:regular r:id="rId19"/>
    </p:embeddedFont>
    <p:embeddedFont>
      <p:font typeface="KNSAFD+Roboto-Italic"/>
      <p:regular r:id="rId20"/>
    </p:embeddedFont>
    <p:embeddedFont>
      <p:font typeface="NHVQWE+Merriweather-Bold"/>
      <p:regular r:id="rId21"/>
    </p:embeddedFont>
    <p:embeddedFont>
      <p:font typeface="WWVSDQ+Merriweather-Italic"/>
      <p:regular r:id="rId22"/>
    </p:embeddedFont>
    <p:embeddedFont>
      <p:font typeface="FCLAQG+ArialMT"/>
      <p:regular r:id="rId23"/>
    </p:embeddedFont>
    <p:embeddedFont>
      <p:font typeface="QDKLSE+Roboto-Bold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2482" y="-91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presProps" Target="presProps.xml" /><Relationship Id="rId10" Type="http://schemas.openxmlformats.org/officeDocument/2006/relationships/slide" Target="slides/slide5.xml" /><Relationship Id="rId11" Type="http://schemas.openxmlformats.org/officeDocument/2006/relationships/slide" Target="slides/slide6.xml" /><Relationship Id="rId12" Type="http://schemas.openxmlformats.org/officeDocument/2006/relationships/slide" Target="slides/slide7.xml" /><Relationship Id="rId13" Type="http://schemas.openxmlformats.org/officeDocument/2006/relationships/slide" Target="slides/slide8.xml" /><Relationship Id="rId14" Type="http://schemas.openxmlformats.org/officeDocument/2006/relationships/slide" Target="slides/slide9.xml" /><Relationship Id="rId15" Type="http://schemas.openxmlformats.org/officeDocument/2006/relationships/slide" Target="slides/slide10.xml" /><Relationship Id="rId16" Type="http://schemas.openxmlformats.org/officeDocument/2006/relationships/slide" Target="slides/slide11.xml" /><Relationship Id="rId17" Type="http://schemas.openxmlformats.org/officeDocument/2006/relationships/slide" Target="slides/slide12.xml" /><Relationship Id="rId18" Type="http://schemas.openxmlformats.org/officeDocument/2006/relationships/font" Target="fonts/font1.fntdata" /><Relationship Id="rId19" Type="http://schemas.openxmlformats.org/officeDocument/2006/relationships/font" Target="fonts/font2.fntdata" /><Relationship Id="rId2" Type="http://schemas.openxmlformats.org/officeDocument/2006/relationships/tableStyles" Target="tableStyles.xml" /><Relationship Id="rId20" Type="http://schemas.openxmlformats.org/officeDocument/2006/relationships/font" Target="fonts/font3.fntdata" /><Relationship Id="rId21" Type="http://schemas.openxmlformats.org/officeDocument/2006/relationships/font" Target="fonts/font4.fntdata" /><Relationship Id="rId22" Type="http://schemas.openxmlformats.org/officeDocument/2006/relationships/font" Target="fonts/font5.fntdata" /><Relationship Id="rId23" Type="http://schemas.openxmlformats.org/officeDocument/2006/relationships/font" Target="fonts/font6.fntdata" /><Relationship Id="rId24" Type="http://schemas.openxmlformats.org/officeDocument/2006/relationships/font" Target="fonts/font7.fntdata" /><Relationship Id="rId3" Type="http://schemas.openxmlformats.org/officeDocument/2006/relationships/viewProps" Target="viewProps.xml" /><Relationship Id="rId4" Type="http://schemas.openxmlformats.org/officeDocument/2006/relationships/theme" Target="theme/theme1.xml" /><Relationship Id="rId5" Type="http://schemas.openxmlformats.org/officeDocument/2006/relationships/slideMaster" Target="slideMasters/slideMaster1.xml" /><Relationship Id="rId6" Type="http://schemas.openxmlformats.org/officeDocument/2006/relationships/slide" Target="slides/slide1.xml" /><Relationship Id="rId7" Type="http://schemas.openxmlformats.org/officeDocument/2006/relationships/slide" Target="slides/slide2.xml" /><Relationship Id="rId8" Type="http://schemas.openxmlformats.org/officeDocument/2006/relationships/slide" Target="slides/slide3.xml" /><Relationship Id="rId9" Type="http://schemas.openxmlformats.org/officeDocument/2006/relationships/slide" Target="slides/slide4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27.02.2014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В‹#В›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7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8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9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0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1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2.png" /><Relationship Id="rId3" Type="http://schemas.openxmlformats.org/officeDocument/2006/relationships/hyperlink" Target="mailto:cmohan@cougar.uh.edu" TargetMode="External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02725" y="576483"/>
            <a:ext cx="3070809" cy="9114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16"/>
              </a:lnSpc>
              <a:spcBef>
                <a:spcPts val="0"/>
              </a:spcBef>
              <a:spcAft>
                <a:spcPts val="0"/>
              </a:spcAft>
            </a:pPr>
            <a:r>
              <a:rPr dirty="0" sz="28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Mohan</a:t>
            </a:r>
            <a:r>
              <a:rPr dirty="0" sz="28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28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Research</a:t>
            </a:r>
          </a:p>
          <a:p>
            <a:pPr marL="0" marR="0">
              <a:lnSpc>
                <a:spcPts val="3359"/>
              </a:lnSpc>
              <a:spcBef>
                <a:spcPts val="0"/>
              </a:spcBef>
              <a:spcAft>
                <a:spcPts val="0"/>
              </a:spcAft>
            </a:pPr>
            <a:r>
              <a:rPr dirty="0" sz="28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Lab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96225" y="2722399"/>
            <a:ext cx="3532328" cy="48994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9c4b1"/>
                </a:solidFill>
                <a:latin typeface="QQICHE+Roboto-Light"/>
                <a:cs typeface="QQICHE+Roboto-Light"/>
              </a:rPr>
              <a:t>“The</a:t>
            </a:r>
            <a:r>
              <a:rPr dirty="0" sz="1500">
                <a:solidFill>
                  <a:srgbClr val="d9c4b1"/>
                </a:solidFill>
                <a:latin typeface="QQICHE+Roboto-Light"/>
                <a:cs typeface="QQICHE+Roboto-Light"/>
              </a:rPr>
              <a:t> </a:t>
            </a:r>
            <a:r>
              <a:rPr dirty="0" sz="1500">
                <a:solidFill>
                  <a:srgbClr val="d9c4b1"/>
                </a:solidFill>
                <a:latin typeface="QQICHE+Roboto-Light"/>
                <a:cs typeface="QQICHE+Roboto-Light"/>
              </a:rPr>
              <a:t>mind,</a:t>
            </a:r>
            <a:r>
              <a:rPr dirty="0" sz="1500">
                <a:solidFill>
                  <a:srgbClr val="d9c4b1"/>
                </a:solidFill>
                <a:latin typeface="QQICHE+Roboto-Light"/>
                <a:cs typeface="QQICHE+Roboto-Light"/>
              </a:rPr>
              <a:t> </a:t>
            </a:r>
            <a:r>
              <a:rPr dirty="0" sz="1500">
                <a:solidFill>
                  <a:srgbClr val="d9c4b1"/>
                </a:solidFill>
                <a:latin typeface="QQICHE+Roboto-Light"/>
                <a:cs typeface="QQICHE+Roboto-Light"/>
              </a:rPr>
              <a:t>once</a:t>
            </a:r>
            <a:r>
              <a:rPr dirty="0" sz="1500">
                <a:solidFill>
                  <a:srgbClr val="d9c4b1"/>
                </a:solidFill>
                <a:latin typeface="QQICHE+Roboto-Light"/>
                <a:cs typeface="QQICHE+Roboto-Light"/>
              </a:rPr>
              <a:t> </a:t>
            </a:r>
            <a:r>
              <a:rPr dirty="0" sz="1500">
                <a:solidFill>
                  <a:srgbClr val="d9c4b1"/>
                </a:solidFill>
                <a:latin typeface="QQICHE+Roboto-Light"/>
                <a:cs typeface="QQICHE+Roboto-Light"/>
              </a:rPr>
              <a:t>stretched</a:t>
            </a:r>
            <a:r>
              <a:rPr dirty="0" sz="1500">
                <a:solidFill>
                  <a:srgbClr val="d9c4b1"/>
                </a:solidFill>
                <a:latin typeface="QQICHE+Roboto-Light"/>
                <a:cs typeface="QQICHE+Roboto-Light"/>
              </a:rPr>
              <a:t> </a:t>
            </a:r>
            <a:r>
              <a:rPr dirty="0" sz="1500">
                <a:solidFill>
                  <a:srgbClr val="d9c4b1"/>
                </a:solidFill>
                <a:latin typeface="QQICHE+Roboto-Light"/>
                <a:cs typeface="QQICHE+Roboto-Light"/>
              </a:rPr>
              <a:t>by</a:t>
            </a:r>
            <a:r>
              <a:rPr dirty="0" sz="1500">
                <a:solidFill>
                  <a:srgbClr val="d9c4b1"/>
                </a:solidFill>
                <a:latin typeface="QQICHE+Roboto-Light"/>
                <a:cs typeface="QQICHE+Roboto-Light"/>
              </a:rPr>
              <a:t> </a:t>
            </a:r>
            <a:r>
              <a:rPr dirty="0" sz="1500">
                <a:solidFill>
                  <a:srgbClr val="d9c4b1"/>
                </a:solidFill>
                <a:latin typeface="QQICHE+Roboto-Light"/>
                <a:cs typeface="QQICHE+Roboto-Light"/>
              </a:rPr>
              <a:t>a</a:t>
            </a:r>
            <a:r>
              <a:rPr dirty="0" sz="1500">
                <a:solidFill>
                  <a:srgbClr val="d9c4b1"/>
                </a:solidFill>
                <a:latin typeface="QQICHE+Roboto-Light"/>
                <a:cs typeface="QQICHE+Roboto-Light"/>
              </a:rPr>
              <a:t> </a:t>
            </a:r>
            <a:r>
              <a:rPr dirty="0" sz="1500">
                <a:solidFill>
                  <a:srgbClr val="d9c4b1"/>
                </a:solidFill>
                <a:latin typeface="QQICHE+Roboto-Light"/>
                <a:cs typeface="QQICHE+Roboto-Light"/>
              </a:rPr>
              <a:t>new</a:t>
            </a:r>
            <a:r>
              <a:rPr dirty="0" sz="1500">
                <a:solidFill>
                  <a:srgbClr val="d9c4b1"/>
                </a:solidFill>
                <a:latin typeface="QQICHE+Roboto-Light"/>
                <a:cs typeface="QQICHE+Roboto-Light"/>
              </a:rPr>
              <a:t> </a:t>
            </a:r>
            <a:r>
              <a:rPr dirty="0" sz="1500">
                <a:solidFill>
                  <a:srgbClr val="d9c4b1"/>
                </a:solidFill>
                <a:latin typeface="QQICHE+Roboto-Light"/>
                <a:cs typeface="QQICHE+Roboto-Light"/>
              </a:rPr>
              <a:t>idea,</a:t>
            </a:r>
          </a:p>
          <a:p>
            <a:pPr marL="0" marR="0">
              <a:lnSpc>
                <a:spcPts val="1757"/>
              </a:lnSpc>
              <a:spcBef>
                <a:spcPts val="42"/>
              </a:spcBef>
              <a:spcAft>
                <a:spcPts val="0"/>
              </a:spcAft>
            </a:pPr>
            <a:r>
              <a:rPr dirty="0" sz="1500">
                <a:solidFill>
                  <a:srgbClr val="d9c4b1"/>
                </a:solidFill>
                <a:latin typeface="QQICHE+Roboto-Light"/>
                <a:cs typeface="QQICHE+Roboto-Light"/>
              </a:rPr>
              <a:t>never</a:t>
            </a:r>
            <a:r>
              <a:rPr dirty="0" sz="1500">
                <a:solidFill>
                  <a:srgbClr val="d9c4b1"/>
                </a:solidFill>
                <a:latin typeface="QQICHE+Roboto-Light"/>
                <a:cs typeface="QQICHE+Roboto-Light"/>
              </a:rPr>
              <a:t> </a:t>
            </a:r>
            <a:r>
              <a:rPr dirty="0" sz="1500">
                <a:solidFill>
                  <a:srgbClr val="d9c4b1"/>
                </a:solidFill>
                <a:latin typeface="QQICHE+Roboto-Light"/>
                <a:cs typeface="QQICHE+Roboto-Light"/>
              </a:rPr>
              <a:t>returns</a:t>
            </a:r>
            <a:r>
              <a:rPr dirty="0" sz="1500">
                <a:solidFill>
                  <a:srgbClr val="d9c4b1"/>
                </a:solidFill>
                <a:latin typeface="QQICHE+Roboto-Light"/>
                <a:cs typeface="QQICHE+Roboto-Light"/>
              </a:rPr>
              <a:t> </a:t>
            </a:r>
            <a:r>
              <a:rPr dirty="0" sz="1500">
                <a:solidFill>
                  <a:srgbClr val="d9c4b1"/>
                </a:solidFill>
                <a:latin typeface="QQICHE+Roboto-Light"/>
                <a:cs typeface="QQICHE+Roboto-Light"/>
              </a:rPr>
              <a:t>to</a:t>
            </a:r>
            <a:r>
              <a:rPr dirty="0" sz="1500">
                <a:solidFill>
                  <a:srgbClr val="d9c4b1"/>
                </a:solidFill>
                <a:latin typeface="QQICHE+Roboto-Light"/>
                <a:cs typeface="QQICHE+Roboto-Light"/>
              </a:rPr>
              <a:t> </a:t>
            </a:r>
            <a:r>
              <a:rPr dirty="0" sz="1500">
                <a:solidFill>
                  <a:srgbClr val="d9c4b1"/>
                </a:solidFill>
                <a:latin typeface="QQICHE+Roboto-Light"/>
                <a:cs typeface="QQICHE+Roboto-Light"/>
              </a:rPr>
              <a:t>its</a:t>
            </a:r>
            <a:r>
              <a:rPr dirty="0" sz="1500">
                <a:solidFill>
                  <a:srgbClr val="d9c4b1"/>
                </a:solidFill>
                <a:latin typeface="QQICHE+Roboto-Light"/>
                <a:cs typeface="QQICHE+Roboto-Light"/>
              </a:rPr>
              <a:t> </a:t>
            </a:r>
            <a:r>
              <a:rPr dirty="0" sz="1500">
                <a:solidFill>
                  <a:srgbClr val="d9c4b1"/>
                </a:solidFill>
                <a:latin typeface="QQICHE+Roboto-Light"/>
                <a:cs typeface="QQICHE+Roboto-Light"/>
              </a:rPr>
              <a:t>original</a:t>
            </a:r>
            <a:r>
              <a:rPr dirty="0" sz="1500">
                <a:solidFill>
                  <a:srgbClr val="d9c4b1"/>
                </a:solidFill>
                <a:latin typeface="QQICHE+Roboto-Light"/>
                <a:cs typeface="QQICHE+Roboto-Light"/>
              </a:rPr>
              <a:t> </a:t>
            </a:r>
            <a:r>
              <a:rPr dirty="0" sz="1500">
                <a:solidFill>
                  <a:srgbClr val="d9c4b1"/>
                </a:solidFill>
                <a:latin typeface="QQICHE+Roboto-Light"/>
                <a:cs typeface="QQICHE+Roboto-Light"/>
              </a:rPr>
              <a:t>dimensions.”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10625" y="3407349"/>
            <a:ext cx="1609502" cy="21669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06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d9c4b1"/>
                </a:solidFill>
                <a:latin typeface="KNSAFD+Roboto-Italic"/>
                <a:cs typeface="KNSAFD+Roboto-Italic"/>
              </a:rPr>
              <a:t>Ralph</a:t>
            </a:r>
            <a:r>
              <a:rPr dirty="0" sz="1200">
                <a:solidFill>
                  <a:srgbClr val="d9c4b1"/>
                </a:solidFill>
                <a:latin typeface="KNSAFD+Roboto-Italic"/>
                <a:cs typeface="KNSAFD+Roboto-Italic"/>
              </a:rPr>
              <a:t> </a:t>
            </a:r>
            <a:r>
              <a:rPr dirty="0" sz="1200">
                <a:solidFill>
                  <a:srgbClr val="d9c4b1"/>
                </a:solidFill>
                <a:latin typeface="KNSAFD+Roboto-Italic"/>
                <a:cs typeface="KNSAFD+Roboto-Italic"/>
              </a:rPr>
              <a:t>Waldo</a:t>
            </a:r>
            <a:r>
              <a:rPr dirty="0" sz="1200">
                <a:solidFill>
                  <a:srgbClr val="d9c4b1"/>
                </a:solidFill>
                <a:latin typeface="KNSAFD+Roboto-Italic"/>
                <a:cs typeface="KNSAFD+Roboto-Italic"/>
              </a:rPr>
              <a:t> </a:t>
            </a:r>
            <a:r>
              <a:rPr dirty="0" sz="1200">
                <a:solidFill>
                  <a:srgbClr val="d9c4b1"/>
                </a:solidFill>
                <a:latin typeface="KNSAFD+Roboto-Italic"/>
                <a:cs typeface="KNSAFD+Roboto-Italic"/>
              </a:rPr>
              <a:t>Emerson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81675" y="2163981"/>
            <a:ext cx="5550407" cy="23183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776"/>
              </a:lnSpc>
              <a:spcBef>
                <a:spcPts val="0"/>
              </a:spcBef>
              <a:spcAft>
                <a:spcPts val="0"/>
              </a:spcAft>
            </a:pPr>
            <a:r>
              <a:rPr dirty="0" sz="3800" b="1">
                <a:solidFill>
                  <a:srgbClr val="002f4a"/>
                </a:solidFill>
                <a:latin typeface="NHVQWE+Merriweather-Bold"/>
                <a:cs typeface="NHVQWE+Merriweather-Bold"/>
              </a:rPr>
              <a:t>Mission</a:t>
            </a:r>
            <a:r>
              <a:rPr dirty="0" sz="3800" b="1">
                <a:solidFill>
                  <a:srgbClr val="002f4a"/>
                </a:solidFill>
                <a:latin typeface="NHVQWE+Merriweather-Bold"/>
                <a:cs typeface="NHVQWE+Merriweather-Bold"/>
              </a:rPr>
              <a:t> </a:t>
            </a:r>
            <a:r>
              <a:rPr dirty="0" sz="3800" b="1">
                <a:solidFill>
                  <a:srgbClr val="002f4a"/>
                </a:solidFill>
                <a:latin typeface="NHVQWE+Merriweather-Bold"/>
                <a:cs typeface="NHVQWE+Merriweather-Bold"/>
              </a:rPr>
              <a:t>statement:</a:t>
            </a:r>
          </a:p>
          <a:p>
            <a:pPr marL="0" marR="0">
              <a:lnSpc>
                <a:spcPts val="2763"/>
              </a:lnSpc>
              <a:spcBef>
                <a:spcPts val="0"/>
              </a:spcBef>
              <a:spcAft>
                <a:spcPts val="0"/>
              </a:spcAft>
            </a:pPr>
            <a:r>
              <a:rPr dirty="0" sz="2200">
                <a:solidFill>
                  <a:srgbClr val="002f4a"/>
                </a:solidFill>
                <a:latin typeface="SJTELL+Merriweather-Regular"/>
                <a:cs typeface="SJTELL+Merriweather-Regular"/>
              </a:rPr>
              <a:t>Mine</a:t>
            </a:r>
            <a:r>
              <a:rPr dirty="0" sz="2200">
                <a:solidFill>
                  <a:srgbClr val="002f4a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2200">
                <a:solidFill>
                  <a:srgbClr val="002f4a"/>
                </a:solidFill>
                <a:latin typeface="SJTELL+Merriweather-Regular"/>
                <a:cs typeface="SJTELL+Merriweather-Regular"/>
              </a:rPr>
              <a:t>proteomic</a:t>
            </a:r>
            <a:r>
              <a:rPr dirty="0" sz="2200">
                <a:solidFill>
                  <a:srgbClr val="002f4a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2200">
                <a:solidFill>
                  <a:srgbClr val="002f4a"/>
                </a:solidFill>
                <a:latin typeface="SJTELL+Merriweather-Regular"/>
                <a:cs typeface="SJTELL+Merriweather-Regular"/>
              </a:rPr>
              <a:t>data</a:t>
            </a:r>
            <a:r>
              <a:rPr dirty="0" sz="2200">
                <a:solidFill>
                  <a:srgbClr val="002f4a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2200">
                <a:solidFill>
                  <a:srgbClr val="002f4a"/>
                </a:solidFill>
                <a:latin typeface="SJTELL+Merriweather-Regular"/>
                <a:cs typeface="SJTELL+Merriweather-Regular"/>
              </a:rPr>
              <a:t>for</a:t>
            </a:r>
            <a:r>
              <a:rPr dirty="0" sz="2200">
                <a:solidFill>
                  <a:srgbClr val="002f4a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2200">
                <a:solidFill>
                  <a:srgbClr val="002f4a"/>
                </a:solidFill>
                <a:latin typeface="SJTELL+Merriweather-Regular"/>
                <a:cs typeface="SJTELL+Merriweather-Regular"/>
              </a:rPr>
              <a:t>novel</a:t>
            </a:r>
          </a:p>
          <a:p>
            <a:pPr marL="0" marR="0">
              <a:lnSpc>
                <a:spcPts val="2640"/>
              </a:lnSpc>
              <a:spcBef>
                <a:spcPts val="50"/>
              </a:spcBef>
              <a:spcAft>
                <a:spcPts val="0"/>
              </a:spcAft>
            </a:pPr>
            <a:r>
              <a:rPr dirty="0" sz="2200">
                <a:solidFill>
                  <a:srgbClr val="002f4a"/>
                </a:solidFill>
                <a:latin typeface="SJTELL+Merriweather-Regular"/>
                <a:cs typeface="SJTELL+Merriweather-Regular"/>
              </a:rPr>
              <a:t>biomarkers</a:t>
            </a:r>
            <a:r>
              <a:rPr dirty="0" sz="2200">
                <a:solidFill>
                  <a:srgbClr val="002f4a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2200">
                <a:solidFill>
                  <a:srgbClr val="002f4a"/>
                </a:solidFill>
                <a:latin typeface="SJTELL+Merriweather-Regular"/>
                <a:cs typeface="SJTELL+Merriweather-Regular"/>
              </a:rPr>
              <a:t>and</a:t>
            </a:r>
            <a:r>
              <a:rPr dirty="0" sz="2200">
                <a:solidFill>
                  <a:srgbClr val="002f4a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2200">
                <a:solidFill>
                  <a:srgbClr val="002f4a"/>
                </a:solidFill>
                <a:latin typeface="SJTELL+Merriweather-Regular"/>
                <a:cs typeface="SJTELL+Merriweather-Regular"/>
              </a:rPr>
              <a:t>targets</a:t>
            </a:r>
            <a:r>
              <a:rPr dirty="0" sz="2200">
                <a:solidFill>
                  <a:srgbClr val="002f4a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2200">
                <a:solidFill>
                  <a:srgbClr val="002f4a"/>
                </a:solidFill>
                <a:latin typeface="SJTELL+Merriweather-Regular"/>
                <a:cs typeface="SJTELL+Merriweather-Regular"/>
              </a:rPr>
              <a:t>in</a:t>
            </a:r>
            <a:r>
              <a:rPr dirty="0" sz="2200">
                <a:solidFill>
                  <a:srgbClr val="002f4a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2200">
                <a:solidFill>
                  <a:srgbClr val="002f4a"/>
                </a:solidFill>
                <a:latin typeface="SJTELL+Merriweather-Regular"/>
                <a:cs typeface="SJTELL+Merriweather-Regular"/>
              </a:rPr>
              <a:t>autoimmune</a:t>
            </a:r>
          </a:p>
          <a:p>
            <a:pPr marL="0" marR="0">
              <a:lnSpc>
                <a:spcPts val="2639"/>
              </a:lnSpc>
              <a:spcBef>
                <a:spcPts val="0"/>
              </a:spcBef>
              <a:spcAft>
                <a:spcPts val="0"/>
              </a:spcAft>
            </a:pPr>
            <a:r>
              <a:rPr dirty="0" sz="2200">
                <a:solidFill>
                  <a:srgbClr val="002f4a"/>
                </a:solidFill>
                <a:latin typeface="SJTELL+Merriweather-Regular"/>
                <a:cs typeface="SJTELL+Merriweather-Regular"/>
              </a:rPr>
              <a:t>diseases</a:t>
            </a:r>
            <a:r>
              <a:rPr dirty="0" sz="2200">
                <a:solidFill>
                  <a:srgbClr val="002f4a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2200">
                <a:solidFill>
                  <a:srgbClr val="002f4a"/>
                </a:solidFill>
                <a:latin typeface="SJTELL+Merriweather-Regular"/>
                <a:cs typeface="SJTELL+Merriweather-Regular"/>
              </a:rPr>
              <a:t>and</a:t>
            </a:r>
            <a:r>
              <a:rPr dirty="0" sz="2200">
                <a:solidFill>
                  <a:srgbClr val="002f4a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2200">
                <a:solidFill>
                  <a:srgbClr val="002f4a"/>
                </a:solidFill>
                <a:latin typeface="SJTELL+Merriweather-Regular"/>
                <a:cs typeface="SJTELL+Merriweather-Regular"/>
              </a:rPr>
              <a:t>cancers</a:t>
            </a:r>
            <a:r>
              <a:rPr dirty="0" sz="2200">
                <a:solidFill>
                  <a:srgbClr val="002f4a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2200">
                <a:solidFill>
                  <a:srgbClr val="002f4a"/>
                </a:solidFill>
                <a:latin typeface="SJTELL+Merriweather-Regular"/>
                <a:cs typeface="SJTELL+Merriweather-Regular"/>
              </a:rPr>
              <a:t>then</a:t>
            </a:r>
            <a:r>
              <a:rPr dirty="0" sz="2200">
                <a:solidFill>
                  <a:srgbClr val="002f4a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2200">
                <a:solidFill>
                  <a:srgbClr val="002f4a"/>
                </a:solidFill>
                <a:latin typeface="SJTELL+Merriweather-Regular"/>
                <a:cs typeface="SJTELL+Merriweather-Regular"/>
              </a:rPr>
              <a:t>apply</a:t>
            </a:r>
            <a:r>
              <a:rPr dirty="0" sz="2200">
                <a:solidFill>
                  <a:srgbClr val="002f4a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2200">
                <a:solidFill>
                  <a:srgbClr val="002f4a"/>
                </a:solidFill>
                <a:latin typeface="SJTELL+Merriweather-Regular"/>
                <a:cs typeface="SJTELL+Merriweather-Regular"/>
              </a:rPr>
              <a:t>the</a:t>
            </a:r>
          </a:p>
          <a:p>
            <a:pPr marL="0" marR="0">
              <a:lnSpc>
                <a:spcPts val="2639"/>
              </a:lnSpc>
              <a:spcBef>
                <a:spcPts val="50"/>
              </a:spcBef>
              <a:spcAft>
                <a:spcPts val="0"/>
              </a:spcAft>
            </a:pPr>
            <a:r>
              <a:rPr dirty="0" sz="2200">
                <a:solidFill>
                  <a:srgbClr val="002f4a"/>
                </a:solidFill>
                <a:latin typeface="SJTELL+Merriweather-Regular"/>
                <a:cs typeface="SJTELL+Merriweather-Regular"/>
              </a:rPr>
              <a:t>latest</a:t>
            </a:r>
            <a:r>
              <a:rPr dirty="0" sz="2200">
                <a:solidFill>
                  <a:srgbClr val="002f4a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2200">
                <a:solidFill>
                  <a:srgbClr val="002f4a"/>
                </a:solidFill>
                <a:latin typeface="SJTELL+Merriweather-Regular"/>
                <a:cs typeface="SJTELL+Merriweather-Regular"/>
              </a:rPr>
              <a:t>bioengineering</a:t>
            </a:r>
            <a:r>
              <a:rPr dirty="0" sz="2200">
                <a:solidFill>
                  <a:srgbClr val="002f4a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2200">
                <a:solidFill>
                  <a:srgbClr val="002f4a"/>
                </a:solidFill>
                <a:latin typeface="SJTELL+Merriweather-Regular"/>
                <a:cs typeface="SJTELL+Merriweather-Regular"/>
              </a:rPr>
              <a:t>technologies</a:t>
            </a:r>
            <a:r>
              <a:rPr dirty="0" sz="2200">
                <a:solidFill>
                  <a:srgbClr val="002f4a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2200">
                <a:solidFill>
                  <a:srgbClr val="002f4a"/>
                </a:solidFill>
                <a:latin typeface="SJTELL+Merriweather-Regular"/>
                <a:cs typeface="SJTELL+Merriweather-Regular"/>
              </a:rPr>
              <a:t>to</a:t>
            </a:r>
          </a:p>
          <a:p>
            <a:pPr marL="0" marR="0">
              <a:lnSpc>
                <a:spcPts val="2639"/>
              </a:lnSpc>
              <a:spcBef>
                <a:spcPts val="0"/>
              </a:spcBef>
              <a:spcAft>
                <a:spcPts val="0"/>
              </a:spcAft>
            </a:pPr>
            <a:r>
              <a:rPr dirty="0" sz="2200">
                <a:solidFill>
                  <a:srgbClr val="002f4a"/>
                </a:solidFill>
                <a:latin typeface="SJTELL+Merriweather-Regular"/>
                <a:cs typeface="SJTELL+Merriweather-Regular"/>
              </a:rPr>
              <a:t>improve</a:t>
            </a:r>
            <a:r>
              <a:rPr dirty="0" sz="2200">
                <a:solidFill>
                  <a:srgbClr val="002f4a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2200">
                <a:solidFill>
                  <a:srgbClr val="002f4a"/>
                </a:solidFill>
                <a:latin typeface="SJTELL+Merriweather-Regular"/>
                <a:cs typeface="SJTELL+Merriweather-Regular"/>
              </a:rPr>
              <a:t>patient</a:t>
            </a:r>
            <a:r>
              <a:rPr dirty="0" sz="2200">
                <a:solidFill>
                  <a:srgbClr val="002f4a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2200">
                <a:solidFill>
                  <a:srgbClr val="002f4a"/>
                </a:solidFill>
                <a:latin typeface="SJTELL+Merriweather-Regular"/>
                <a:cs typeface="SJTELL+Merriweather-Regular"/>
              </a:rPr>
              <a:t>outcomes.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03150" y="576483"/>
            <a:ext cx="2394457" cy="4847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16"/>
              </a:lnSpc>
              <a:spcBef>
                <a:spcPts val="0"/>
              </a:spcBef>
              <a:spcAft>
                <a:spcPts val="0"/>
              </a:spcAft>
            </a:pPr>
            <a:r>
              <a:rPr dirty="0" sz="28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The</a:t>
            </a:r>
            <a:r>
              <a:rPr dirty="0" sz="28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28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problem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3125" y="1634800"/>
            <a:ext cx="2802657" cy="62145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09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666666"/>
                </a:solidFill>
                <a:latin typeface="QQICHE+Roboto-Light"/>
                <a:cs typeface="QQICHE+Roboto-Light"/>
              </a:rPr>
              <a:t>Research</a:t>
            </a:r>
            <a:r>
              <a:rPr dirty="0" sz="1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666666"/>
                </a:solidFill>
                <a:latin typeface="QQICHE+Roboto-Light"/>
                <a:cs typeface="QQICHE+Roboto-Light"/>
              </a:rPr>
              <a:t>opportunities</a:t>
            </a:r>
            <a:r>
              <a:rPr dirty="0" sz="1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666666"/>
                </a:solidFill>
                <a:latin typeface="QQICHE+Roboto-Light"/>
                <a:cs typeface="QQICHE+Roboto-Light"/>
              </a:rPr>
              <a:t>for</a:t>
            </a:r>
          </a:p>
          <a:p>
            <a:pPr marL="0" marR="0">
              <a:lnSpc>
                <a:spcPts val="2109"/>
              </a:lnSpc>
              <a:spcBef>
                <a:spcPts val="374"/>
              </a:spcBef>
              <a:spcAft>
                <a:spcPts val="0"/>
              </a:spcAft>
            </a:pPr>
            <a:r>
              <a:rPr dirty="0" sz="1800">
                <a:solidFill>
                  <a:srgbClr val="666666"/>
                </a:solidFill>
                <a:latin typeface="QQICHE+Roboto-Light"/>
                <a:cs typeface="QQICHE+Roboto-Light"/>
              </a:rPr>
              <a:t>undergraduates.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3125" y="2418137"/>
            <a:ext cx="3691841" cy="15678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09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666666"/>
                </a:solidFill>
                <a:latin typeface="QQICHE+Roboto-Light"/>
                <a:cs typeface="QQICHE+Roboto-Light"/>
              </a:rPr>
              <a:t>Are</a:t>
            </a:r>
            <a:r>
              <a:rPr dirty="0" sz="1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666666"/>
                </a:solidFill>
                <a:latin typeface="QQICHE+Roboto-Light"/>
                <a:cs typeface="QQICHE+Roboto-Light"/>
              </a:rPr>
              <a:t>there</a:t>
            </a:r>
            <a:r>
              <a:rPr dirty="0" sz="1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666666"/>
                </a:solidFill>
                <a:latin typeface="QQICHE+Roboto-Light"/>
                <a:cs typeface="QQICHE+Roboto-Light"/>
              </a:rPr>
              <a:t>any</a:t>
            </a:r>
            <a:r>
              <a:rPr dirty="0" sz="1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666666"/>
                </a:solidFill>
                <a:latin typeface="QQICHE+Roboto-Light"/>
                <a:cs typeface="QQICHE+Roboto-Light"/>
              </a:rPr>
              <a:t>labs</a:t>
            </a:r>
            <a:r>
              <a:rPr dirty="0" sz="1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666666"/>
                </a:solidFill>
                <a:latin typeface="QQICHE+Roboto-Light"/>
                <a:cs typeface="QQICHE+Roboto-Light"/>
              </a:rPr>
              <a:t>in</a:t>
            </a:r>
            <a:r>
              <a:rPr dirty="0" sz="1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666666"/>
                </a:solidFill>
                <a:latin typeface="QQICHE+Roboto-Light"/>
                <a:cs typeface="QQICHE+Roboto-Light"/>
              </a:rPr>
              <a:t>which</a:t>
            </a:r>
          </a:p>
          <a:p>
            <a:pPr marL="0" marR="0">
              <a:lnSpc>
                <a:spcPts val="2109"/>
              </a:lnSpc>
              <a:spcBef>
                <a:spcPts val="374"/>
              </a:spcBef>
              <a:spcAft>
                <a:spcPts val="0"/>
              </a:spcAft>
            </a:pPr>
            <a:r>
              <a:rPr dirty="0" sz="1800">
                <a:solidFill>
                  <a:srgbClr val="666666"/>
                </a:solidFill>
                <a:latin typeface="QQICHE+Roboto-Light"/>
                <a:cs typeface="QQICHE+Roboto-Light"/>
              </a:rPr>
              <a:t>undergraduates</a:t>
            </a:r>
            <a:r>
              <a:rPr dirty="0" sz="1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666666"/>
                </a:solidFill>
                <a:latin typeface="QQICHE+Roboto-Light"/>
                <a:cs typeface="QQICHE+Roboto-Light"/>
              </a:rPr>
              <a:t>can</a:t>
            </a:r>
            <a:r>
              <a:rPr dirty="0" sz="1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666666"/>
                </a:solidFill>
                <a:latin typeface="QQICHE+Roboto-Light"/>
                <a:cs typeface="QQICHE+Roboto-Light"/>
              </a:rPr>
              <a:t>conduct</a:t>
            </a:r>
            <a:r>
              <a:rPr dirty="0" sz="1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666666"/>
                </a:solidFill>
                <a:latin typeface="QQICHE+Roboto-Light"/>
                <a:cs typeface="QQICHE+Roboto-Light"/>
              </a:rPr>
              <a:t>actual</a:t>
            </a:r>
          </a:p>
          <a:p>
            <a:pPr marL="0" marR="0">
              <a:lnSpc>
                <a:spcPts val="2109"/>
              </a:lnSpc>
              <a:spcBef>
                <a:spcPts val="374"/>
              </a:spcBef>
              <a:spcAft>
                <a:spcPts val="0"/>
              </a:spcAft>
            </a:pPr>
            <a:r>
              <a:rPr dirty="0" sz="1800">
                <a:solidFill>
                  <a:srgbClr val="666666"/>
                </a:solidFill>
                <a:latin typeface="QQICHE+Roboto-Light"/>
                <a:cs typeface="QQICHE+Roboto-Light"/>
              </a:rPr>
              <a:t>research</a:t>
            </a:r>
            <a:r>
              <a:rPr dirty="0" sz="1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666666"/>
                </a:solidFill>
                <a:latin typeface="QQICHE+Roboto-Light"/>
                <a:cs typeface="QQICHE+Roboto-Light"/>
              </a:rPr>
              <a:t>that</a:t>
            </a:r>
            <a:r>
              <a:rPr dirty="0" sz="1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666666"/>
                </a:solidFill>
                <a:latin typeface="QQICHE+Roboto-Light"/>
                <a:cs typeface="QQICHE+Roboto-Light"/>
              </a:rPr>
              <a:t>directly</a:t>
            </a:r>
            <a:r>
              <a:rPr dirty="0" sz="1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666666"/>
                </a:solidFill>
                <a:latin typeface="QQICHE+Roboto-Light"/>
                <a:cs typeface="QQICHE+Roboto-Light"/>
              </a:rPr>
              <a:t>impacts</a:t>
            </a:r>
          </a:p>
          <a:p>
            <a:pPr marL="0" marR="0">
              <a:lnSpc>
                <a:spcPts val="2109"/>
              </a:lnSpc>
              <a:spcBef>
                <a:spcPts val="374"/>
              </a:spcBef>
              <a:spcAft>
                <a:spcPts val="0"/>
              </a:spcAft>
            </a:pPr>
            <a:r>
              <a:rPr dirty="0" sz="1800">
                <a:solidFill>
                  <a:srgbClr val="666666"/>
                </a:solidFill>
                <a:latin typeface="QQICHE+Roboto-Light"/>
                <a:cs typeface="QQICHE+Roboto-Light"/>
              </a:rPr>
              <a:t>patient</a:t>
            </a:r>
            <a:r>
              <a:rPr dirty="0" sz="1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666666"/>
                </a:solidFill>
                <a:latin typeface="QQICHE+Roboto-Light"/>
                <a:cs typeface="QQICHE+Roboto-Light"/>
              </a:rPr>
              <a:t>health</a:t>
            </a:r>
            <a:r>
              <a:rPr dirty="0" sz="1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666666"/>
                </a:solidFill>
                <a:latin typeface="QQICHE+Roboto-Light"/>
                <a:cs typeface="QQICHE+Roboto-Light"/>
              </a:rPr>
              <a:t>and</a:t>
            </a:r>
            <a:r>
              <a:rPr dirty="0" sz="1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666666"/>
                </a:solidFill>
                <a:latin typeface="QQICHE+Roboto-Light"/>
                <a:cs typeface="QQICHE+Roboto-Light"/>
              </a:rPr>
              <a:t>also</a:t>
            </a:r>
            <a:r>
              <a:rPr dirty="0" sz="1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666666"/>
                </a:solidFill>
                <a:latin typeface="QQICHE+Roboto-Light"/>
                <a:cs typeface="QQICHE+Roboto-Light"/>
              </a:rPr>
              <a:t>get</a:t>
            </a:r>
            <a:r>
              <a:rPr dirty="0" sz="1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666666"/>
                </a:solidFill>
                <a:latin typeface="QQICHE+Roboto-Light"/>
                <a:cs typeface="QQICHE+Roboto-Light"/>
              </a:rPr>
              <a:t>it</a:t>
            </a:r>
          </a:p>
          <a:p>
            <a:pPr marL="0" marR="0">
              <a:lnSpc>
                <a:spcPts val="2109"/>
              </a:lnSpc>
              <a:spcBef>
                <a:spcPts val="324"/>
              </a:spcBef>
              <a:spcAft>
                <a:spcPts val="0"/>
              </a:spcAft>
            </a:pPr>
            <a:r>
              <a:rPr dirty="0" sz="1800">
                <a:solidFill>
                  <a:srgbClr val="666666"/>
                </a:solidFill>
                <a:latin typeface="QQICHE+Roboto-Light"/>
                <a:cs typeface="QQICHE+Roboto-Light"/>
              </a:rPr>
              <a:t>published?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970449" y="642585"/>
            <a:ext cx="1967662" cy="395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812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>
                <a:solidFill>
                  <a:srgbClr val="666666"/>
                </a:solidFill>
                <a:latin typeface="QQICHE+Roboto-Light"/>
                <a:cs typeface="QQICHE+Roboto-Light"/>
              </a:rPr>
              <a:t>Yes</a:t>
            </a:r>
            <a:r>
              <a:rPr dirty="0" sz="24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2400">
                <a:solidFill>
                  <a:srgbClr val="666666"/>
                </a:solidFill>
                <a:latin typeface="QQICHE+Roboto-Light"/>
                <a:cs typeface="QQICHE+Roboto-Light"/>
              </a:rPr>
              <a:t>there</a:t>
            </a:r>
            <a:r>
              <a:rPr dirty="0" sz="24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2400">
                <a:solidFill>
                  <a:srgbClr val="666666"/>
                </a:solidFill>
                <a:latin typeface="QQICHE+Roboto-Light"/>
                <a:cs typeface="QQICHE+Roboto-Light"/>
              </a:rPr>
              <a:t>are!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70449" y="1215609"/>
            <a:ext cx="3834444" cy="81591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812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>
                <a:solidFill>
                  <a:srgbClr val="666666"/>
                </a:solidFill>
                <a:latin typeface="QQICHE+Roboto-Light"/>
                <a:cs typeface="QQICHE+Roboto-Light"/>
              </a:rPr>
              <a:t>At</a:t>
            </a:r>
            <a:r>
              <a:rPr dirty="0" sz="24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2400">
                <a:solidFill>
                  <a:srgbClr val="666666"/>
                </a:solidFill>
                <a:latin typeface="QQICHE+Roboto-Light"/>
                <a:cs typeface="QQICHE+Roboto-Light"/>
              </a:rPr>
              <a:t>the</a:t>
            </a:r>
            <a:r>
              <a:rPr dirty="0" sz="24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2400">
                <a:solidFill>
                  <a:srgbClr val="666666"/>
                </a:solidFill>
                <a:latin typeface="QQICHE+Roboto-Light"/>
                <a:cs typeface="QQICHE+Roboto-Light"/>
              </a:rPr>
              <a:t>Mohan</a:t>
            </a:r>
            <a:r>
              <a:rPr dirty="0" sz="24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2400">
                <a:solidFill>
                  <a:srgbClr val="666666"/>
                </a:solidFill>
                <a:latin typeface="QQICHE+Roboto-Light"/>
                <a:cs typeface="QQICHE+Roboto-Light"/>
              </a:rPr>
              <a:t>Research</a:t>
            </a:r>
            <a:r>
              <a:rPr dirty="0" sz="24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2400">
                <a:solidFill>
                  <a:srgbClr val="666666"/>
                </a:solidFill>
                <a:latin typeface="QQICHE+Roboto-Light"/>
                <a:cs typeface="QQICHE+Roboto-Light"/>
              </a:rPr>
              <a:t>Lab</a:t>
            </a:r>
          </a:p>
          <a:p>
            <a:pPr marL="0" marR="0">
              <a:lnSpc>
                <a:spcPts val="2812"/>
              </a:lnSpc>
              <a:spcBef>
                <a:spcPts val="499"/>
              </a:spcBef>
              <a:spcAft>
                <a:spcPts val="0"/>
              </a:spcAft>
            </a:pPr>
            <a:r>
              <a:rPr dirty="0" sz="2400">
                <a:solidFill>
                  <a:srgbClr val="666666"/>
                </a:solidFill>
                <a:latin typeface="QQICHE+Roboto-Light"/>
                <a:cs typeface="QQICHE+Roboto-Light"/>
              </a:rPr>
              <a:t>we</a:t>
            </a:r>
            <a:r>
              <a:rPr dirty="0" sz="24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2400">
                <a:solidFill>
                  <a:srgbClr val="666666"/>
                </a:solidFill>
                <a:latin typeface="QQICHE+Roboto-Light"/>
                <a:cs typeface="QQICHE+Roboto-Light"/>
              </a:rPr>
              <a:t>encourage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970449" y="2056857"/>
            <a:ext cx="3744371" cy="207778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812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>
                <a:solidFill>
                  <a:srgbClr val="666666"/>
                </a:solidFill>
                <a:latin typeface="QQICHE+Roboto-Light"/>
                <a:cs typeface="QQICHE+Roboto-Light"/>
              </a:rPr>
              <a:t>undergraduates</a:t>
            </a:r>
            <a:r>
              <a:rPr dirty="0" sz="24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2400">
                <a:solidFill>
                  <a:srgbClr val="666666"/>
                </a:solidFill>
                <a:latin typeface="QQICHE+Roboto-Light"/>
                <a:cs typeface="QQICHE+Roboto-Light"/>
              </a:rPr>
              <a:t>to</a:t>
            </a:r>
            <a:r>
              <a:rPr dirty="0" sz="24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2400">
                <a:solidFill>
                  <a:srgbClr val="666666"/>
                </a:solidFill>
                <a:latin typeface="QQICHE+Roboto-Light"/>
                <a:cs typeface="QQICHE+Roboto-Light"/>
              </a:rPr>
              <a:t>take</a:t>
            </a:r>
            <a:r>
              <a:rPr dirty="0" sz="24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2400">
                <a:solidFill>
                  <a:srgbClr val="666666"/>
                </a:solidFill>
                <a:latin typeface="QQICHE+Roboto-Light"/>
                <a:cs typeface="QQICHE+Roboto-Light"/>
              </a:rPr>
              <a:t>up</a:t>
            </a:r>
          </a:p>
          <a:p>
            <a:pPr marL="0" marR="0">
              <a:lnSpc>
                <a:spcPts val="2812"/>
              </a:lnSpc>
              <a:spcBef>
                <a:spcPts val="499"/>
              </a:spcBef>
              <a:spcAft>
                <a:spcPts val="0"/>
              </a:spcAft>
            </a:pPr>
            <a:r>
              <a:rPr dirty="0" sz="2400">
                <a:solidFill>
                  <a:srgbClr val="666666"/>
                </a:solidFill>
                <a:latin typeface="QQICHE+Roboto-Light"/>
                <a:cs typeface="QQICHE+Roboto-Light"/>
              </a:rPr>
              <a:t>the</a:t>
            </a:r>
            <a:r>
              <a:rPr dirty="0" sz="24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2400">
                <a:solidFill>
                  <a:srgbClr val="666666"/>
                </a:solidFill>
                <a:latin typeface="QQICHE+Roboto-Light"/>
                <a:cs typeface="QQICHE+Roboto-Light"/>
              </a:rPr>
              <a:t>pipette</a:t>
            </a:r>
            <a:r>
              <a:rPr dirty="0" sz="24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2400">
                <a:solidFill>
                  <a:srgbClr val="666666"/>
                </a:solidFill>
                <a:latin typeface="QQICHE+Roboto-Light"/>
                <a:cs typeface="QQICHE+Roboto-Light"/>
              </a:rPr>
              <a:t>and</a:t>
            </a:r>
            <a:r>
              <a:rPr dirty="0" sz="24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2400">
                <a:solidFill>
                  <a:srgbClr val="666666"/>
                </a:solidFill>
                <a:latin typeface="QQICHE+Roboto-Light"/>
                <a:cs typeface="QQICHE+Roboto-Light"/>
              </a:rPr>
              <a:t>join</a:t>
            </a:r>
            <a:r>
              <a:rPr dirty="0" sz="24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2400">
                <a:solidFill>
                  <a:srgbClr val="666666"/>
                </a:solidFill>
                <a:latin typeface="QQICHE+Roboto-Light"/>
                <a:cs typeface="QQICHE+Roboto-Light"/>
              </a:rPr>
              <a:t>a</a:t>
            </a:r>
            <a:r>
              <a:rPr dirty="0" sz="24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2400">
                <a:solidFill>
                  <a:srgbClr val="666666"/>
                </a:solidFill>
                <a:latin typeface="QQICHE+Roboto-Light"/>
                <a:cs typeface="QQICHE+Roboto-Light"/>
              </a:rPr>
              <a:t>team</a:t>
            </a:r>
          </a:p>
          <a:p>
            <a:pPr marL="0" marR="0">
              <a:lnSpc>
                <a:spcPts val="2812"/>
              </a:lnSpc>
              <a:spcBef>
                <a:spcPts val="499"/>
              </a:spcBef>
              <a:spcAft>
                <a:spcPts val="0"/>
              </a:spcAft>
            </a:pPr>
            <a:r>
              <a:rPr dirty="0" sz="2400">
                <a:solidFill>
                  <a:srgbClr val="666666"/>
                </a:solidFill>
                <a:latin typeface="QQICHE+Roboto-Light"/>
                <a:cs typeface="QQICHE+Roboto-Light"/>
              </a:rPr>
              <a:t>conducting</a:t>
            </a:r>
            <a:r>
              <a:rPr dirty="0" sz="24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2400">
                <a:solidFill>
                  <a:srgbClr val="666666"/>
                </a:solidFill>
                <a:latin typeface="QQICHE+Roboto-Light"/>
                <a:cs typeface="QQICHE+Roboto-Light"/>
              </a:rPr>
              <a:t>potentially</a:t>
            </a:r>
            <a:r>
              <a:rPr dirty="0" sz="24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2400">
                <a:solidFill>
                  <a:srgbClr val="666666"/>
                </a:solidFill>
                <a:latin typeface="QQICHE+Roboto-Light"/>
                <a:cs typeface="QQICHE+Roboto-Light"/>
              </a:rPr>
              <a:t>life-</a:t>
            </a:r>
          </a:p>
          <a:p>
            <a:pPr marL="0" marR="0">
              <a:lnSpc>
                <a:spcPts val="2812"/>
              </a:lnSpc>
              <a:spcBef>
                <a:spcPts val="499"/>
              </a:spcBef>
              <a:spcAft>
                <a:spcPts val="0"/>
              </a:spcAft>
            </a:pPr>
            <a:r>
              <a:rPr dirty="0" sz="2400">
                <a:solidFill>
                  <a:srgbClr val="666666"/>
                </a:solidFill>
                <a:latin typeface="QQICHE+Roboto-Light"/>
                <a:cs typeface="QQICHE+Roboto-Light"/>
              </a:rPr>
              <a:t>changing</a:t>
            </a:r>
            <a:r>
              <a:rPr dirty="0" sz="24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2400">
                <a:solidFill>
                  <a:srgbClr val="666666"/>
                </a:solidFill>
                <a:latin typeface="QQICHE+Roboto-Light"/>
                <a:cs typeface="QQICHE+Roboto-Light"/>
              </a:rPr>
              <a:t>(and</a:t>
            </a:r>
            <a:r>
              <a:rPr dirty="0" sz="24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2400">
                <a:solidFill>
                  <a:srgbClr val="666666"/>
                </a:solidFill>
                <a:latin typeface="QQICHE+Roboto-Light"/>
                <a:cs typeface="QQICHE+Roboto-Light"/>
              </a:rPr>
              <a:t>publishable)</a:t>
            </a:r>
          </a:p>
          <a:p>
            <a:pPr marL="0" marR="0">
              <a:lnSpc>
                <a:spcPts val="2812"/>
              </a:lnSpc>
              <a:spcBef>
                <a:spcPts val="549"/>
              </a:spcBef>
              <a:spcAft>
                <a:spcPts val="0"/>
              </a:spcAft>
            </a:pPr>
            <a:r>
              <a:rPr dirty="0" sz="2400">
                <a:solidFill>
                  <a:srgbClr val="666666"/>
                </a:solidFill>
                <a:latin typeface="QQICHE+Roboto-Light"/>
                <a:cs typeface="QQICHE+Roboto-Light"/>
              </a:rPr>
              <a:t>experiments.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56925" y="3561722"/>
            <a:ext cx="2364943" cy="4847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16"/>
              </a:lnSpc>
              <a:spcBef>
                <a:spcPts val="0"/>
              </a:spcBef>
              <a:spcAft>
                <a:spcPts val="0"/>
              </a:spcAft>
            </a:pPr>
            <a:r>
              <a:rPr dirty="0" sz="28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The</a:t>
            </a:r>
            <a:r>
              <a:rPr dirty="0" sz="28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28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solution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585262" y="295657"/>
            <a:ext cx="4125975" cy="77784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161237" marR="0">
              <a:lnSpc>
                <a:spcPts val="3516"/>
              </a:lnSpc>
              <a:spcBef>
                <a:spcPts val="0"/>
              </a:spcBef>
              <a:spcAft>
                <a:spcPts val="0"/>
              </a:spcAft>
            </a:pPr>
            <a:r>
              <a:rPr dirty="0" sz="28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The</a:t>
            </a:r>
            <a:r>
              <a:rPr dirty="0" sz="28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28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team</a:t>
            </a:r>
          </a:p>
          <a:p>
            <a:pPr marL="0" marR="0">
              <a:lnSpc>
                <a:spcPts val="2011"/>
              </a:lnSpc>
              <a:spcBef>
                <a:spcPts val="296"/>
              </a:spcBef>
              <a:spcAft>
                <a:spcPts val="0"/>
              </a:spcAft>
            </a:pPr>
            <a:r>
              <a:rPr dirty="0" sz="1600">
                <a:solidFill>
                  <a:srgbClr val="ffffff"/>
                </a:solidFill>
                <a:latin typeface="WWVSDQ+Merriweather-Italic"/>
                <a:cs typeface="WWVSDQ+Merriweather-Italic"/>
              </a:rPr>
              <a:t>An</a:t>
            </a:r>
            <a:r>
              <a:rPr dirty="0" sz="1600" spc="-20">
                <a:solidFill>
                  <a:srgbClr val="ffffff"/>
                </a:solidFill>
                <a:latin typeface="WWVSDQ+Merriweather-Italic"/>
                <a:cs typeface="WWVSDQ+Merriweather-Italic"/>
              </a:rPr>
              <a:t> </a:t>
            </a:r>
            <a:r>
              <a:rPr dirty="0" sz="1600">
                <a:solidFill>
                  <a:srgbClr val="ffffff"/>
                </a:solidFill>
                <a:latin typeface="WWVSDQ+Merriweather-Italic"/>
                <a:cs typeface="WWVSDQ+Merriweather-Italic"/>
              </a:rPr>
              <a:t>international</a:t>
            </a:r>
            <a:r>
              <a:rPr dirty="0" sz="1600" spc="-20">
                <a:solidFill>
                  <a:srgbClr val="ffffff"/>
                </a:solidFill>
                <a:latin typeface="WWVSDQ+Merriweather-Italic"/>
                <a:cs typeface="WWVSDQ+Merriweather-Italic"/>
              </a:rPr>
              <a:t> </a:t>
            </a:r>
            <a:r>
              <a:rPr dirty="0" sz="1600">
                <a:solidFill>
                  <a:srgbClr val="ffffff"/>
                </a:solidFill>
                <a:latin typeface="WWVSDQ+Merriweather-Italic"/>
                <a:cs typeface="WWVSDQ+Merriweather-Italic"/>
              </a:rPr>
              <a:t>group</a:t>
            </a:r>
            <a:r>
              <a:rPr dirty="0" sz="1600" spc="-20">
                <a:solidFill>
                  <a:srgbClr val="ffffff"/>
                </a:solidFill>
                <a:latin typeface="WWVSDQ+Merriweather-Italic"/>
                <a:cs typeface="WWVSDQ+Merriweather-Italic"/>
              </a:rPr>
              <a:t> </a:t>
            </a:r>
            <a:r>
              <a:rPr dirty="0" sz="1600">
                <a:solidFill>
                  <a:srgbClr val="ffffff"/>
                </a:solidFill>
                <a:latin typeface="WWVSDQ+Merriweather-Italic"/>
                <a:cs typeface="WWVSDQ+Merriweather-Italic"/>
              </a:rPr>
              <a:t>of</a:t>
            </a:r>
            <a:r>
              <a:rPr dirty="0" sz="1600" spc="-20">
                <a:solidFill>
                  <a:srgbClr val="ffffff"/>
                </a:solidFill>
                <a:latin typeface="WWVSDQ+Merriweather-Italic"/>
                <a:cs typeface="WWVSDQ+Merriweather-Italic"/>
              </a:rPr>
              <a:t> </a:t>
            </a:r>
            <a:r>
              <a:rPr dirty="0" sz="1600">
                <a:solidFill>
                  <a:srgbClr val="ffffff"/>
                </a:solidFill>
                <a:latin typeface="WWVSDQ+Merriweather-Italic"/>
                <a:cs typeface="WWVSDQ+Merriweather-Italic"/>
              </a:rPr>
              <a:t>lead</a:t>
            </a:r>
            <a:r>
              <a:rPr dirty="0" sz="1600" spc="-20">
                <a:solidFill>
                  <a:srgbClr val="ffffff"/>
                </a:solidFill>
                <a:latin typeface="WWVSDQ+Merriweather-Italic"/>
                <a:cs typeface="WWVSDQ+Merriweather-Italic"/>
              </a:rPr>
              <a:t> </a:t>
            </a:r>
            <a:r>
              <a:rPr dirty="0" sz="1600">
                <a:solidFill>
                  <a:srgbClr val="ffffff"/>
                </a:solidFill>
                <a:latin typeface="WWVSDQ+Merriweather-Italic"/>
                <a:cs typeface="WWVSDQ+Merriweather-Italic"/>
              </a:rPr>
              <a:t>researchers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2446" y="3250548"/>
            <a:ext cx="1970684" cy="32522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31394d"/>
                </a:solidFill>
                <a:latin typeface="SJTELL+Merriweather-Regular"/>
                <a:cs typeface="SJTELL+Merriweather-Regular"/>
              </a:rPr>
              <a:t>Kamala</a:t>
            </a:r>
            <a:r>
              <a:rPr dirty="0" sz="1800">
                <a:solidFill>
                  <a:srgbClr val="31394d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1800">
                <a:solidFill>
                  <a:srgbClr val="31394d"/>
                </a:solidFill>
                <a:latin typeface="SJTELL+Merriweather-Regular"/>
                <a:cs typeface="SJTELL+Merriweather-Regular"/>
              </a:rPr>
              <a:t>Vanarsa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632939" y="3250548"/>
            <a:ext cx="1806320" cy="32522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31394d"/>
                </a:solidFill>
                <a:latin typeface="SJTELL+Merriweather-Regular"/>
                <a:cs typeface="SJTELL+Merriweather-Regular"/>
              </a:rPr>
              <a:t>Annie</a:t>
            </a:r>
            <a:r>
              <a:rPr dirty="0" sz="1800">
                <a:solidFill>
                  <a:srgbClr val="31394d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1800">
                <a:solidFill>
                  <a:srgbClr val="31394d"/>
                </a:solidFill>
                <a:latin typeface="SJTELL+Merriweather-Regular"/>
                <a:cs typeface="SJTELL+Merriweather-Regular"/>
              </a:rPr>
              <a:t>Yanping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475494" y="3250548"/>
            <a:ext cx="915238" cy="32522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31394d"/>
                </a:solidFill>
                <a:latin typeface="SJTELL+Merriweather-Regular"/>
                <a:cs typeface="SJTELL+Merriweather-Regular"/>
              </a:rPr>
              <a:t>Yaxi</a:t>
            </a:r>
            <a:r>
              <a:rPr dirty="0" sz="1800">
                <a:solidFill>
                  <a:srgbClr val="31394d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1800">
                <a:solidFill>
                  <a:srgbClr val="31394d"/>
                </a:solidFill>
                <a:latin typeface="SJTELL+Merriweather-Regular"/>
                <a:cs typeface="SJTELL+Merriweather-Regular"/>
              </a:rPr>
              <a:t>Li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728040" y="3282168"/>
            <a:ext cx="2010664" cy="29331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09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31394d"/>
                </a:solidFill>
                <a:latin typeface="SJTELL+Merriweather-Regular"/>
                <a:cs typeface="SJTELL+Merriweather-Regular"/>
              </a:rPr>
              <a:t>Anto</a:t>
            </a:r>
            <a:r>
              <a:rPr dirty="0" sz="1600">
                <a:solidFill>
                  <a:srgbClr val="31394d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1600">
                <a:solidFill>
                  <a:srgbClr val="31394d"/>
                </a:solidFill>
                <a:latin typeface="SJTELL+Merriweather-Regular"/>
                <a:cs typeface="SJTELL+Merriweather-Regular"/>
              </a:rPr>
              <a:t>Sam</a:t>
            </a:r>
            <a:r>
              <a:rPr dirty="0" sz="1600">
                <a:solidFill>
                  <a:srgbClr val="31394d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1600">
                <a:solidFill>
                  <a:srgbClr val="31394d"/>
                </a:solidFill>
                <a:latin typeface="SJTELL+Merriweather-Regular"/>
                <a:cs typeface="SJTELL+Merriweather-Regular"/>
              </a:rPr>
              <a:t>Crosslee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018281" y="3586271"/>
            <a:ext cx="1827394" cy="10734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86531" marR="0">
              <a:lnSpc>
                <a:spcPts val="118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A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Post-Doctoral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Fellow.</a:t>
            </a:r>
          </a:p>
          <a:p>
            <a:pPr marL="99218" marR="0">
              <a:lnSpc>
                <a:spcPts val="1183"/>
              </a:lnSpc>
              <a:spcBef>
                <a:spcPts val="210"/>
              </a:spcBef>
              <a:spcAft>
                <a:spcPts val="0"/>
              </a:spcAft>
            </a:pP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Research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interests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include</a:t>
            </a:r>
          </a:p>
          <a:p>
            <a:pPr marL="0" marR="0">
              <a:lnSpc>
                <a:spcPts val="1183"/>
              </a:lnSpc>
              <a:spcBef>
                <a:spcPts val="210"/>
              </a:spcBef>
              <a:spcAft>
                <a:spcPts val="0"/>
              </a:spcAft>
            </a:pP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discovery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of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novel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biomarkers</a:t>
            </a:r>
          </a:p>
          <a:p>
            <a:pPr marL="281781" marR="0">
              <a:lnSpc>
                <a:spcPts val="1183"/>
              </a:lnSpc>
              <a:spcBef>
                <a:spcPts val="210"/>
              </a:spcBef>
              <a:spcAft>
                <a:spcPts val="0"/>
              </a:spcAft>
            </a:pP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and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drug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targets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for</a:t>
            </a:r>
          </a:p>
          <a:p>
            <a:pPr marL="96837" marR="0">
              <a:lnSpc>
                <a:spcPts val="1183"/>
              </a:lnSpc>
              <a:spcBef>
                <a:spcPts val="210"/>
              </a:spcBef>
              <a:spcAft>
                <a:spcPts val="0"/>
              </a:spcAft>
            </a:pP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autoimmune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diseases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and</a:t>
            </a:r>
          </a:p>
          <a:p>
            <a:pPr marL="600868" marR="0">
              <a:lnSpc>
                <a:spcPts val="1183"/>
              </a:lnSpc>
              <a:spcBef>
                <a:spcPts val="210"/>
              </a:spcBef>
              <a:spcAft>
                <a:spcPts val="0"/>
              </a:spcAft>
            </a:pP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cancers.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46731" y="3684978"/>
            <a:ext cx="1948199" cy="895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8587" marR="0">
              <a:lnSpc>
                <a:spcPts val="118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The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lab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manager.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Research</a:t>
            </a:r>
          </a:p>
          <a:p>
            <a:pPr marL="102393" marR="0">
              <a:lnSpc>
                <a:spcPts val="1183"/>
              </a:lnSpc>
              <a:spcBef>
                <a:spcPts val="210"/>
              </a:spcBef>
              <a:spcAft>
                <a:spcPts val="0"/>
              </a:spcAft>
            </a:pP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interests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include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using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novel</a:t>
            </a:r>
          </a:p>
          <a:p>
            <a:pPr marL="161925" marR="0">
              <a:lnSpc>
                <a:spcPts val="1183"/>
              </a:lnSpc>
              <a:spcBef>
                <a:spcPts val="210"/>
              </a:spcBef>
              <a:spcAft>
                <a:spcPts val="0"/>
              </a:spcAft>
            </a:pP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proteomic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technologies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to</a:t>
            </a:r>
          </a:p>
          <a:p>
            <a:pPr marL="0" marR="0">
              <a:lnSpc>
                <a:spcPts val="1128"/>
              </a:lnSpc>
              <a:spcBef>
                <a:spcPts val="258"/>
              </a:spcBef>
              <a:spcAft>
                <a:spcPts val="0"/>
              </a:spcAft>
            </a:pPr>
            <a:r>
              <a:rPr dirty="0" sz="1000">
                <a:solidFill>
                  <a:srgbClr val="626b73"/>
                </a:solidFill>
                <a:latin typeface="FCLAQG+ArialMT"/>
                <a:cs typeface="FCLAQG+ArialMT"/>
              </a:rPr>
              <a:t>quantitate</a:t>
            </a:r>
            <a:r>
              <a:rPr dirty="0" sz="1000">
                <a:solidFill>
                  <a:srgbClr val="626b73"/>
                </a:solidFill>
                <a:latin typeface="FCLAQG+ArialMT"/>
                <a:cs typeface="FCLAQG+ArialMT"/>
              </a:rPr>
              <a:t> </a:t>
            </a:r>
            <a:r>
              <a:rPr dirty="0" sz="1000">
                <a:solidFill>
                  <a:srgbClr val="626b73"/>
                </a:solidFill>
                <a:latin typeface="FCLAQG+ArialMT"/>
                <a:cs typeface="FCLAQG+ArialMT"/>
              </a:rPr>
              <a:t>biomarkers</a:t>
            </a:r>
            <a:r>
              <a:rPr dirty="0" sz="1000">
                <a:solidFill>
                  <a:srgbClr val="626b73"/>
                </a:solidFill>
                <a:latin typeface="FCLAQG+ArialMT"/>
                <a:cs typeface="FCLAQG+ArialMT"/>
              </a:rPr>
              <a:t> </a:t>
            </a:r>
            <a:r>
              <a:rPr dirty="0" sz="1000">
                <a:solidFill>
                  <a:srgbClr val="626b73"/>
                </a:solidFill>
                <a:latin typeface="FCLAQG+ArialMT"/>
                <a:cs typeface="FCLAQG+ArialMT"/>
              </a:rPr>
              <a:t>in</a:t>
            </a:r>
            <a:r>
              <a:rPr dirty="0" sz="1000">
                <a:solidFill>
                  <a:srgbClr val="626b73"/>
                </a:solidFill>
                <a:latin typeface="FCLAQG+ArialMT"/>
                <a:cs typeface="FCLAQG+ArialMT"/>
              </a:rPr>
              <a:t> </a:t>
            </a:r>
            <a:r>
              <a:rPr dirty="0" sz="1000">
                <a:solidFill>
                  <a:srgbClr val="626b73"/>
                </a:solidFill>
                <a:latin typeface="FCLAQG+ArialMT"/>
                <a:cs typeface="FCLAQG+ArialMT"/>
              </a:rPr>
              <a:t>human</a:t>
            </a:r>
          </a:p>
          <a:p>
            <a:pPr marL="573087" marR="0">
              <a:lnSpc>
                <a:spcPts val="1128"/>
              </a:lnSpc>
              <a:spcBef>
                <a:spcPts val="265"/>
              </a:spcBef>
              <a:spcAft>
                <a:spcPts val="0"/>
              </a:spcAft>
            </a:pPr>
            <a:r>
              <a:rPr dirty="0" sz="1000">
                <a:solidFill>
                  <a:srgbClr val="626b73"/>
                </a:solidFill>
                <a:latin typeface="FCLAQG+ArialMT"/>
                <a:cs typeface="FCLAQG+ArialMT"/>
              </a:rPr>
              <a:t>body</a:t>
            </a:r>
            <a:r>
              <a:rPr dirty="0" sz="1000">
                <a:solidFill>
                  <a:srgbClr val="626b73"/>
                </a:solidFill>
                <a:latin typeface="FCLAQG+ArialMT"/>
                <a:cs typeface="FCLAQG+ArialMT"/>
              </a:rPr>
              <a:t> </a:t>
            </a:r>
            <a:r>
              <a:rPr dirty="0" sz="1000">
                <a:solidFill>
                  <a:srgbClr val="626b73"/>
                </a:solidFill>
                <a:latin typeface="FCLAQG+ArialMT"/>
                <a:cs typeface="FCLAQG+ArialMT"/>
              </a:rPr>
              <a:t>fluids.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623411" y="3684978"/>
            <a:ext cx="1827694" cy="8964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9068" marR="0">
              <a:lnSpc>
                <a:spcPts val="118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A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senior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staff.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Research</a:t>
            </a:r>
          </a:p>
          <a:p>
            <a:pPr marL="4762" marR="0">
              <a:lnSpc>
                <a:spcPts val="1183"/>
              </a:lnSpc>
              <a:spcBef>
                <a:spcPts val="210"/>
              </a:spcBef>
              <a:spcAft>
                <a:spcPts val="0"/>
              </a:spcAft>
            </a:pP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interests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include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working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with</a:t>
            </a:r>
          </a:p>
          <a:p>
            <a:pPr marL="93662" marR="0">
              <a:lnSpc>
                <a:spcPts val="1183"/>
              </a:lnSpc>
              <a:spcBef>
                <a:spcPts val="210"/>
              </a:spcBef>
              <a:spcAft>
                <a:spcPts val="0"/>
              </a:spcAft>
            </a:pP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animal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models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and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mouse</a:t>
            </a:r>
          </a:p>
          <a:p>
            <a:pPr marL="0" marR="0">
              <a:lnSpc>
                <a:spcPts val="1183"/>
              </a:lnSpc>
              <a:spcBef>
                <a:spcPts val="210"/>
              </a:spcBef>
              <a:spcAft>
                <a:spcPts val="0"/>
              </a:spcAft>
            </a:pP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colony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management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involving</a:t>
            </a:r>
          </a:p>
          <a:p>
            <a:pPr marL="321468" marR="0">
              <a:lnSpc>
                <a:spcPts val="1183"/>
              </a:lnSpc>
              <a:spcBef>
                <a:spcPts val="210"/>
              </a:spcBef>
              <a:spcAft>
                <a:spcPts val="0"/>
              </a:spcAft>
            </a:pP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different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diseases.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897847" y="3685187"/>
            <a:ext cx="1675102" cy="10837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02393" marR="0">
              <a:lnSpc>
                <a:spcPts val="1195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A</a:t>
            </a:r>
            <a:r>
              <a:rPr dirty="0" sz="1000" spc="17">
                <a:solidFill>
                  <a:srgbClr val="626b73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Post-Doctoral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Fellow.</a:t>
            </a:r>
          </a:p>
          <a:p>
            <a:pPr marL="16668" marR="0">
              <a:lnSpc>
                <a:spcPts val="1195"/>
              </a:lnSpc>
              <a:spcBef>
                <a:spcPts val="212"/>
              </a:spcBef>
              <a:spcAft>
                <a:spcPts val="0"/>
              </a:spcAft>
            </a:pPr>
            <a:r>
              <a:rPr dirty="0" sz="1000" spc="10">
                <a:solidFill>
                  <a:srgbClr val="626b73"/>
                </a:solidFill>
                <a:latin typeface="QQICHE+Roboto-Light"/>
                <a:cs typeface="QQICHE+Roboto-Light"/>
              </a:rPr>
              <a:t>Research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interests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include</a:t>
            </a:r>
          </a:p>
          <a:p>
            <a:pPr marL="57150" marR="0">
              <a:lnSpc>
                <a:spcPts val="1195"/>
              </a:lnSpc>
              <a:spcBef>
                <a:spcPts val="212"/>
              </a:spcBef>
              <a:spcAft>
                <a:spcPts val="0"/>
              </a:spcAft>
            </a:pP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understanding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 </a:t>
            </a:r>
            <a:r>
              <a:rPr dirty="0" sz="1000" spc="10">
                <a:solidFill>
                  <a:srgbClr val="626b73"/>
                </a:solidFill>
                <a:latin typeface="QQICHE+Roboto-Light"/>
                <a:cs typeface="QQICHE+Roboto-Light"/>
              </a:rPr>
              <a:t>molecular</a:t>
            </a:r>
          </a:p>
          <a:p>
            <a:pPr marL="173037" marR="0">
              <a:lnSpc>
                <a:spcPts val="1195"/>
              </a:lnSpc>
              <a:spcBef>
                <a:spcPts val="212"/>
              </a:spcBef>
              <a:spcAft>
                <a:spcPts val="0"/>
              </a:spcAft>
            </a:pPr>
            <a:r>
              <a:rPr dirty="0" sz="1000" spc="10">
                <a:solidFill>
                  <a:srgbClr val="626b73"/>
                </a:solidFill>
                <a:latin typeface="QQICHE+Roboto-Light"/>
                <a:cs typeface="QQICHE+Roboto-Light"/>
              </a:rPr>
              <a:t>pathways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involved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in</a:t>
            </a:r>
          </a:p>
          <a:p>
            <a:pPr marL="0" marR="0">
              <a:lnSpc>
                <a:spcPts val="1195"/>
              </a:lnSpc>
              <a:spcBef>
                <a:spcPts val="212"/>
              </a:spcBef>
              <a:spcAft>
                <a:spcPts val="0"/>
              </a:spcAft>
            </a:pPr>
            <a:r>
              <a:rPr dirty="0" sz="1000" spc="10">
                <a:solidFill>
                  <a:srgbClr val="626b73"/>
                </a:solidFill>
                <a:latin typeface="QQICHE+Roboto-Light"/>
                <a:cs typeface="QQICHE+Roboto-Light"/>
              </a:rPr>
              <a:t>autoimmunity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 </a:t>
            </a:r>
            <a:r>
              <a:rPr dirty="0" sz="1000" spc="10">
                <a:solidFill>
                  <a:srgbClr val="626b73"/>
                </a:solidFill>
                <a:latin typeface="QQICHE+Roboto-Light"/>
                <a:cs typeface="QQICHE+Roboto-Light"/>
              </a:rPr>
              <a:t>and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creating</a:t>
            </a:r>
          </a:p>
          <a:p>
            <a:pPr marL="137318" marR="0">
              <a:lnSpc>
                <a:spcPts val="1195"/>
              </a:lnSpc>
              <a:spcBef>
                <a:spcPts val="212"/>
              </a:spcBef>
              <a:spcAft>
                <a:spcPts val="0"/>
              </a:spcAft>
            </a:pPr>
            <a:r>
              <a:rPr dirty="0" sz="1000" spc="10">
                <a:solidFill>
                  <a:srgbClr val="626b73"/>
                </a:solidFill>
                <a:latin typeface="QQICHE+Roboto-Light"/>
                <a:cs typeface="QQICHE+Roboto-Light"/>
              </a:rPr>
              <a:t>novel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disease</a:t>
            </a:r>
            <a:r>
              <a:rPr dirty="0" sz="1000">
                <a:solidFill>
                  <a:srgbClr val="626b73"/>
                </a:solidFill>
                <a:latin typeface="QQICHE+Roboto-Light"/>
                <a:cs typeface="QQICHE+Roboto-Light"/>
              </a:rPr>
              <a:t> </a:t>
            </a:r>
            <a:r>
              <a:rPr dirty="0" sz="1000" spc="10">
                <a:solidFill>
                  <a:srgbClr val="626b73"/>
                </a:solidFill>
                <a:latin typeface="QQICHE+Roboto-Light"/>
                <a:cs typeface="QQICHE+Roboto-Light"/>
              </a:rPr>
              <a:t>models.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52375" y="625991"/>
            <a:ext cx="7251014" cy="50068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642"/>
              </a:lnSpc>
              <a:spcBef>
                <a:spcPts val="0"/>
              </a:spcBef>
              <a:spcAft>
                <a:spcPts val="0"/>
              </a:spcAft>
            </a:pPr>
            <a:r>
              <a:rPr dirty="0" sz="29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Projects-</a:t>
            </a:r>
            <a:r>
              <a:rPr dirty="0" sz="29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29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Identifying</a:t>
            </a:r>
            <a:r>
              <a:rPr dirty="0" sz="29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29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novel</a:t>
            </a:r>
            <a:r>
              <a:rPr dirty="0" sz="29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29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biomarkers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422238" y="4209365"/>
            <a:ext cx="1407476" cy="1884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8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Lead: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Kamala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Vanarsa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422238" y="4386377"/>
            <a:ext cx="2847149" cy="5424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8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Team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Members: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Malavika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Nidhi,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Ramya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Susarla,</a:t>
            </a:r>
          </a:p>
          <a:p>
            <a:pPr marL="0" marR="0">
              <a:lnSpc>
                <a:spcPts val="1183"/>
              </a:lnSpc>
              <a:spcBef>
                <a:spcPts val="21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Ting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Zhang,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Prashanth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Sasidharan,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Sanam</a:t>
            </a:r>
          </a:p>
          <a:p>
            <a:pPr marL="0" marR="0">
              <a:lnSpc>
                <a:spcPts val="1183"/>
              </a:lnSpc>
              <a:spcBef>
                <a:spcPts val="21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Soomro,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Suresh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Venkateswaran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279024" y="4426240"/>
            <a:ext cx="2860221" cy="4962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8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Lead: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Hao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Li</a:t>
            </a:r>
          </a:p>
          <a:p>
            <a:pPr marL="0" marR="0">
              <a:lnSpc>
                <a:spcPts val="1183"/>
              </a:lnSpc>
              <a:spcBef>
                <a:spcPts val="28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Team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Members: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Kamala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Vanarsa,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Yanping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Chen</a:t>
            </a:r>
          </a:p>
          <a:p>
            <a:pPr marL="0" marR="0">
              <a:lnSpc>
                <a:spcPts val="1183"/>
              </a:lnSpc>
              <a:spcBef>
                <a:spcPts val="28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Collaborator: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Drs.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Chia,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Bresalier,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Pedroza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19199" y="4488724"/>
            <a:ext cx="1936456" cy="3423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8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Team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Members: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Pietro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Cicalese</a:t>
            </a:r>
          </a:p>
          <a:p>
            <a:pPr marL="0" marR="0">
              <a:lnSpc>
                <a:spcPts val="1183"/>
              </a:lnSpc>
              <a:spcBef>
                <a:spcPts val="28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Collaborator: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Dr.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S-H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Chen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422238" y="4899136"/>
            <a:ext cx="2348722" cy="1884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8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Collaborator: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Drs.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Kugathasan,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Pedroza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52375" y="527391"/>
            <a:ext cx="6792186" cy="83368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265"/>
              </a:lnSpc>
              <a:spcBef>
                <a:spcPts val="0"/>
              </a:spcBef>
              <a:spcAft>
                <a:spcPts val="0"/>
              </a:spcAft>
            </a:pPr>
            <a:r>
              <a:rPr dirty="0" sz="26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Projects-</a:t>
            </a:r>
            <a:r>
              <a:rPr dirty="0" sz="26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25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classify</a:t>
            </a:r>
            <a:r>
              <a:rPr dirty="0" sz="25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25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&amp;</a:t>
            </a:r>
            <a:r>
              <a:rPr dirty="0" sz="25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25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monitor</a:t>
            </a:r>
            <a:r>
              <a:rPr dirty="0" sz="25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25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disease</a:t>
            </a:r>
            <a:r>
              <a:rPr dirty="0" sz="25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25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using</a:t>
            </a:r>
          </a:p>
          <a:p>
            <a:pPr marL="0" marR="0">
              <a:lnSpc>
                <a:spcPts val="3026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biotechnology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3987" y="4252090"/>
            <a:ext cx="1783301" cy="1884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8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Lead: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Pietro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Antonio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Cicalese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19199" y="4406952"/>
            <a:ext cx="2529027" cy="52416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8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Lead: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Yanping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Chen</a:t>
            </a:r>
          </a:p>
          <a:p>
            <a:pPr marL="0" marR="0">
              <a:lnSpc>
                <a:spcPts val="1183"/>
              </a:lnSpc>
              <a:spcBef>
                <a:spcPts val="21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Team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Members: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Phuongthy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Tran,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Yong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Du</a:t>
            </a:r>
          </a:p>
          <a:p>
            <a:pPr marL="0" marR="0">
              <a:lnSpc>
                <a:spcPts val="1183"/>
              </a:lnSpc>
              <a:spcBef>
                <a:spcPts val="16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Collaborator: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Drs.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Assassi,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Larin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231149" y="4421431"/>
            <a:ext cx="2399645" cy="52416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8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Lead: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Ting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Zhang</a:t>
            </a:r>
          </a:p>
          <a:p>
            <a:pPr marL="0" marR="0">
              <a:lnSpc>
                <a:spcPts val="1183"/>
              </a:lnSpc>
              <a:spcBef>
                <a:spcPts val="21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Team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Members: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Kamala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Vanarsa</a:t>
            </a:r>
          </a:p>
          <a:p>
            <a:pPr marL="0" marR="0">
              <a:lnSpc>
                <a:spcPts val="1183"/>
              </a:lnSpc>
              <a:spcBef>
                <a:spcPts val="16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Collaborator: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Drs.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Petri,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Saxena,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Pedroza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313987" y="4429102"/>
            <a:ext cx="2506463" cy="50107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8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Co-mentor: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Dr.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Hien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Van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Nguyen</a:t>
            </a:r>
          </a:p>
          <a:p>
            <a:pPr marL="0" marR="0">
              <a:lnSpc>
                <a:spcPts val="1183"/>
              </a:lnSpc>
              <a:spcBef>
                <a:spcPts val="16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Collaborators: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Drs.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Chang,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Truong,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Becker,</a:t>
            </a:r>
          </a:p>
          <a:p>
            <a:pPr marL="0" marR="0">
              <a:lnSpc>
                <a:spcPts val="1183"/>
              </a:lnSpc>
              <a:spcBef>
                <a:spcPts val="28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Sadhna,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Khambam,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Torrealba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52375" y="154891"/>
            <a:ext cx="4795745" cy="45283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265"/>
              </a:lnSpc>
              <a:spcBef>
                <a:spcPts val="0"/>
              </a:spcBef>
              <a:spcAft>
                <a:spcPts val="0"/>
              </a:spcAft>
            </a:pPr>
            <a:r>
              <a:rPr dirty="0" sz="26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Projects-</a:t>
            </a:r>
            <a:r>
              <a:rPr dirty="0" sz="26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25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Novel</a:t>
            </a:r>
            <a:r>
              <a:rPr dirty="0" sz="25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25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Therapeutics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67800" y="4501315"/>
            <a:ext cx="2496717" cy="52416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8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Lead: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Srinandhini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Chandran</a:t>
            </a:r>
          </a:p>
          <a:p>
            <a:pPr marL="0" marR="0">
              <a:lnSpc>
                <a:spcPts val="1183"/>
              </a:lnSpc>
              <a:spcBef>
                <a:spcPts val="21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Team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Members: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Thao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Nguyen,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Maliha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Mir</a:t>
            </a:r>
          </a:p>
          <a:p>
            <a:pPr marL="0" marR="0">
              <a:lnSpc>
                <a:spcPts val="1183"/>
              </a:lnSpc>
              <a:spcBef>
                <a:spcPts val="16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Collaborator: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Dr.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latin typeface="QQICHE+Roboto-Light"/>
                <a:cs typeface="QQICHE+Roboto-Light"/>
              </a:rPr>
              <a:t>Balan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912350" y="4583086"/>
            <a:ext cx="2529027" cy="3423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8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Lead: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Yanping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Chen</a:t>
            </a:r>
          </a:p>
          <a:p>
            <a:pPr marL="0" marR="0">
              <a:lnSpc>
                <a:spcPts val="1183"/>
              </a:lnSpc>
              <a:spcBef>
                <a:spcPts val="28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Team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Members: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Phuongthy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Tran,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Yong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 </a:t>
            </a:r>
            <a:r>
              <a:rPr dirty="0" sz="1000">
                <a:solidFill>
                  <a:srgbClr val="000000"/>
                </a:solidFill>
                <a:highlight>
                  <a:srgbClr val="fafafa"/>
                </a:highlight>
                <a:latin typeface="QQICHE+Roboto-Light"/>
                <a:cs typeface="QQICHE+Roboto-Light"/>
              </a:rPr>
              <a:t>Du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03150" y="576483"/>
            <a:ext cx="2993999" cy="4847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16"/>
              </a:lnSpc>
              <a:spcBef>
                <a:spcPts val="0"/>
              </a:spcBef>
              <a:spcAft>
                <a:spcPts val="0"/>
              </a:spcAft>
            </a:pPr>
            <a:r>
              <a:rPr dirty="0" sz="28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The</a:t>
            </a:r>
            <a:r>
              <a:rPr dirty="0" sz="28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28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technology: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3125" y="1414573"/>
            <a:ext cx="1498922" cy="36552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578"/>
              </a:lnSpc>
              <a:spcBef>
                <a:spcPts val="0"/>
              </a:spcBef>
              <a:spcAft>
                <a:spcPts val="0"/>
              </a:spcAft>
            </a:pPr>
            <a:r>
              <a:rPr dirty="0" sz="2200" b="1">
                <a:solidFill>
                  <a:srgbClr val="000000"/>
                </a:solidFill>
                <a:latin typeface="QDKLSE+Roboto-Bold"/>
                <a:cs typeface="QDKLSE+Roboto-Bold"/>
              </a:rPr>
              <a:t>Equipment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923850" y="1413007"/>
            <a:ext cx="1599604" cy="36552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578"/>
              </a:lnSpc>
              <a:spcBef>
                <a:spcPts val="0"/>
              </a:spcBef>
              <a:spcAft>
                <a:spcPts val="0"/>
              </a:spcAft>
            </a:pPr>
            <a:r>
              <a:rPr dirty="0" sz="2200" b="1">
                <a:solidFill>
                  <a:srgbClr val="000000"/>
                </a:solidFill>
                <a:latin typeface="QDKLSE+Roboto-Bold"/>
                <a:cs typeface="QDKLSE+Roboto-Bold"/>
              </a:rPr>
              <a:t>Procedures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923850" y="1906731"/>
            <a:ext cx="4178973" cy="31452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09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-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Prepare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Buffers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and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Serial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Dilutions</a:t>
            </a:r>
          </a:p>
          <a:p>
            <a:pPr marL="0" marR="0">
              <a:lnSpc>
                <a:spcPts val="2109"/>
              </a:lnSpc>
              <a:spcBef>
                <a:spcPts val="374"/>
              </a:spcBef>
              <a:spcAft>
                <a:spcPts val="0"/>
              </a:spcAft>
            </a:pP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-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Techniques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For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Extraction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&amp;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Storage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of</a:t>
            </a:r>
          </a:p>
          <a:p>
            <a:pPr marL="400050" marR="0">
              <a:lnSpc>
                <a:spcPts val="2109"/>
              </a:lnSpc>
              <a:spcBef>
                <a:spcPts val="374"/>
              </a:spcBef>
              <a:spcAft>
                <a:spcPts val="0"/>
              </a:spcAft>
            </a:pP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Biomolecules</a:t>
            </a:r>
          </a:p>
          <a:p>
            <a:pPr marL="0" marR="0">
              <a:lnSpc>
                <a:spcPts val="2109"/>
              </a:lnSpc>
              <a:spcBef>
                <a:spcPts val="374"/>
              </a:spcBef>
              <a:spcAft>
                <a:spcPts val="0"/>
              </a:spcAft>
            </a:pP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-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Point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of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Care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(POC)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Testing</a:t>
            </a:r>
          </a:p>
          <a:p>
            <a:pPr marL="0" marR="0">
              <a:lnSpc>
                <a:spcPts val="2109"/>
              </a:lnSpc>
              <a:spcBef>
                <a:spcPts val="324"/>
              </a:spcBef>
              <a:spcAft>
                <a:spcPts val="0"/>
              </a:spcAft>
            </a:pP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-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Cell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Culture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Techniques</a:t>
            </a:r>
          </a:p>
          <a:p>
            <a:pPr marL="0" marR="0">
              <a:lnSpc>
                <a:spcPts val="2109"/>
              </a:lnSpc>
              <a:spcBef>
                <a:spcPts val="374"/>
              </a:spcBef>
              <a:spcAft>
                <a:spcPts val="0"/>
              </a:spcAft>
            </a:pP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-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FACS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Flow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Cytometry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Techniques</a:t>
            </a:r>
          </a:p>
          <a:p>
            <a:pPr marL="0" marR="0">
              <a:lnSpc>
                <a:spcPts val="2109"/>
              </a:lnSpc>
              <a:spcBef>
                <a:spcPts val="374"/>
              </a:spcBef>
              <a:spcAft>
                <a:spcPts val="0"/>
              </a:spcAft>
            </a:pP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-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Chromatographic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Processes</a:t>
            </a:r>
          </a:p>
          <a:p>
            <a:pPr marL="0" marR="0">
              <a:lnSpc>
                <a:spcPts val="2109"/>
              </a:lnSpc>
              <a:spcBef>
                <a:spcPts val="374"/>
              </a:spcBef>
              <a:spcAft>
                <a:spcPts val="0"/>
              </a:spcAft>
            </a:pP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-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Spectroscopic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Techniques</a:t>
            </a:r>
          </a:p>
          <a:p>
            <a:pPr marL="0" marR="0">
              <a:lnSpc>
                <a:spcPts val="2109"/>
              </a:lnSpc>
              <a:spcBef>
                <a:spcPts val="374"/>
              </a:spcBef>
              <a:spcAft>
                <a:spcPts val="0"/>
              </a:spcAft>
            </a:pP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-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Enzyme-linked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Immunoassay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(ELISA)</a:t>
            </a:r>
          </a:p>
          <a:p>
            <a:pPr marL="0" marR="0">
              <a:lnSpc>
                <a:spcPts val="2109"/>
              </a:lnSpc>
              <a:spcBef>
                <a:spcPts val="374"/>
              </a:spcBef>
              <a:spcAft>
                <a:spcPts val="0"/>
              </a:spcAft>
            </a:pP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-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many,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many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more…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03125" y="1944173"/>
            <a:ext cx="3610054" cy="219879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09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-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Single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and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Multi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Channel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Pipettes</a:t>
            </a:r>
          </a:p>
          <a:p>
            <a:pPr marL="0" marR="0">
              <a:lnSpc>
                <a:spcPts val="2109"/>
              </a:lnSpc>
              <a:spcBef>
                <a:spcPts val="374"/>
              </a:spcBef>
              <a:spcAft>
                <a:spcPts val="0"/>
              </a:spcAft>
            </a:pP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-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Automatic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plate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washer</a:t>
            </a:r>
          </a:p>
          <a:p>
            <a:pPr marL="0" marR="0">
              <a:lnSpc>
                <a:spcPts val="2109"/>
              </a:lnSpc>
              <a:spcBef>
                <a:spcPts val="374"/>
              </a:spcBef>
              <a:spcAft>
                <a:spcPts val="0"/>
              </a:spcAft>
            </a:pP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-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POC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Cartridge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material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and</a:t>
            </a:r>
          </a:p>
          <a:p>
            <a:pPr marL="400050" marR="0">
              <a:lnSpc>
                <a:spcPts val="2109"/>
              </a:lnSpc>
              <a:spcBef>
                <a:spcPts val="374"/>
              </a:spcBef>
              <a:spcAft>
                <a:spcPts val="0"/>
              </a:spcAft>
            </a:pP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preparation</a:t>
            </a:r>
          </a:p>
          <a:p>
            <a:pPr marL="0" marR="0">
              <a:lnSpc>
                <a:spcPts val="2109"/>
              </a:lnSpc>
              <a:spcBef>
                <a:spcPts val="324"/>
              </a:spcBef>
              <a:spcAft>
                <a:spcPts val="0"/>
              </a:spcAft>
            </a:pP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-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Centrifuge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&amp;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Vortex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Machines</a:t>
            </a:r>
          </a:p>
          <a:p>
            <a:pPr marL="0" marR="0">
              <a:lnSpc>
                <a:spcPts val="2109"/>
              </a:lnSpc>
              <a:spcBef>
                <a:spcPts val="374"/>
              </a:spcBef>
              <a:spcAft>
                <a:spcPts val="0"/>
              </a:spcAft>
            </a:pP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-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Incubators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&amp;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Microscopes</a:t>
            </a:r>
          </a:p>
          <a:p>
            <a:pPr marL="0" marR="0">
              <a:lnSpc>
                <a:spcPts val="2109"/>
              </a:lnSpc>
              <a:spcBef>
                <a:spcPts val="374"/>
              </a:spcBef>
              <a:spcAft>
                <a:spcPts val="0"/>
              </a:spcAft>
            </a:pP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-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Micro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Plate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Reader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03125" y="4152449"/>
            <a:ext cx="3245277" cy="62145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09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-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Mine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RNAseq/proteomic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data</a:t>
            </a:r>
          </a:p>
          <a:p>
            <a:pPr marL="0" marR="0">
              <a:lnSpc>
                <a:spcPts val="2109"/>
              </a:lnSpc>
              <a:spcBef>
                <a:spcPts val="374"/>
              </a:spcBef>
              <a:spcAft>
                <a:spcPts val="0"/>
              </a:spcAft>
            </a:pP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-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Big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Data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Analysis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 </a:t>
            </a:r>
            <a:r>
              <a:rPr dirty="0" sz="1800">
                <a:solidFill>
                  <a:srgbClr val="002f4a"/>
                </a:solidFill>
                <a:latin typeface="QQICHE+Roboto-Light"/>
                <a:cs typeface="QQICHE+Roboto-Light"/>
              </a:rPr>
              <a:t>packages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03150" y="184244"/>
            <a:ext cx="7856495" cy="10112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918"/>
              </a:lnSpc>
              <a:spcBef>
                <a:spcPts val="0"/>
              </a:spcBef>
              <a:spcAft>
                <a:spcPts val="0"/>
              </a:spcAft>
            </a:pPr>
            <a:r>
              <a:rPr dirty="0" sz="3100" spc="1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Current</a:t>
            </a:r>
            <a:r>
              <a:rPr dirty="0" sz="31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3100" spc="1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List</a:t>
            </a:r>
            <a:r>
              <a:rPr dirty="0" sz="31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3100" spc="11">
                <a:solidFill>
                  <a:srgbClr val="ffffff"/>
                </a:solidFill>
                <a:latin typeface="SJTELL+Merriweather-Regular"/>
                <a:cs typeface="SJTELL+Merriweather-Regular"/>
              </a:rPr>
              <a:t>of</a:t>
            </a:r>
            <a:r>
              <a:rPr dirty="0" sz="31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3100" spc="1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Undergraduate</a:t>
            </a:r>
            <a:r>
              <a:rPr dirty="0" sz="31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3100" spc="1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Students</a:t>
            </a:r>
          </a:p>
          <a:p>
            <a:pPr marL="0" marR="0">
              <a:lnSpc>
                <a:spcPts val="3744"/>
              </a:lnSpc>
              <a:spcBef>
                <a:spcPts val="50"/>
              </a:spcBef>
              <a:spcAft>
                <a:spcPts val="0"/>
              </a:spcAft>
            </a:pPr>
            <a:r>
              <a:rPr dirty="0" sz="3100" spc="11">
                <a:solidFill>
                  <a:srgbClr val="ffffff"/>
                </a:solidFill>
                <a:latin typeface="SJTELL+Merriweather-Regular"/>
                <a:cs typeface="SJTELL+Merriweather-Regular"/>
              </a:rPr>
              <a:t>and</a:t>
            </a:r>
            <a:r>
              <a:rPr dirty="0" sz="31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3100" spc="1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their</a:t>
            </a:r>
            <a:r>
              <a:rPr dirty="0" sz="31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3100" spc="1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research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3350" y="1379738"/>
            <a:ext cx="7668900" cy="1601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 spc="10" b="1">
                <a:solidFill>
                  <a:srgbClr val="666666"/>
                </a:solidFill>
                <a:latin typeface="QDKLSE+Roboto-Bold"/>
                <a:cs typeface="QDKLSE+Roboto-Bold"/>
              </a:rPr>
              <a:t>Hufsa</a:t>
            </a:r>
            <a:r>
              <a:rPr dirty="0" sz="800" b="1">
                <a:solidFill>
                  <a:srgbClr val="666666"/>
                </a:solidFill>
                <a:latin typeface="QDKLSE+Roboto-Bold"/>
                <a:cs typeface="QDKLSE+Roboto-Bold"/>
              </a:rPr>
              <a:t> </a:t>
            </a:r>
            <a:r>
              <a:rPr dirty="0" sz="800" b="1">
                <a:solidFill>
                  <a:srgbClr val="666666"/>
                </a:solidFill>
                <a:latin typeface="QDKLSE+Roboto-Bold"/>
                <a:cs typeface="QDKLSE+Roboto-Bold"/>
              </a:rPr>
              <a:t>Arain</a:t>
            </a:r>
            <a:r>
              <a:rPr dirty="0" sz="800" b="1">
                <a:solidFill>
                  <a:srgbClr val="666666"/>
                </a:solidFill>
                <a:latin typeface="QDKLSE+Roboto-Bold"/>
                <a:cs typeface="QDKLSE+Roboto-Bold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-</a:t>
            </a:r>
            <a:r>
              <a:rPr dirty="0" sz="800" spc="209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research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focus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is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on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creating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and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optimizing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an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point-of-care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diagnostic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test: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an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in-house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vertical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flow</a:t>
            </a:r>
            <a:r>
              <a:rPr dirty="0" sz="800" spc="11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assay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which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will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be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used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for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the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detection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of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IL-6.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53350" y="1561551"/>
            <a:ext cx="8857015" cy="30620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 spc="15" b="1">
                <a:solidFill>
                  <a:srgbClr val="666666"/>
                </a:solidFill>
                <a:latin typeface="QDKLSE+Roboto-Bold"/>
                <a:cs typeface="QDKLSE+Roboto-Bold"/>
              </a:rPr>
              <a:t>Amy</a:t>
            </a:r>
            <a:r>
              <a:rPr dirty="0" sz="800" b="1">
                <a:solidFill>
                  <a:srgbClr val="666666"/>
                </a:solidFill>
                <a:latin typeface="QDKLSE+Roboto-Bold"/>
                <a:cs typeface="QDKLSE+Roboto-Bold"/>
              </a:rPr>
              <a:t> </a:t>
            </a:r>
            <a:r>
              <a:rPr dirty="0" sz="800" spc="11" b="1">
                <a:solidFill>
                  <a:srgbClr val="666666"/>
                </a:solidFill>
                <a:latin typeface="QDKLSE+Roboto-Bold"/>
                <a:cs typeface="QDKLSE+Roboto-Bold"/>
              </a:rPr>
              <a:t>Bui</a:t>
            </a:r>
            <a:r>
              <a:rPr dirty="0" sz="800" b="1">
                <a:solidFill>
                  <a:srgbClr val="666666"/>
                </a:solidFill>
                <a:latin typeface="QDKLSE+Roboto-Bold"/>
                <a:cs typeface="QDKLSE+Roboto-Bold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-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research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focus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is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assisting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with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the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development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of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a</a:t>
            </a:r>
            <a:r>
              <a:rPr dirty="0" sz="800" spc="15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protocol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and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to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conduct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testing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on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Mesenchymal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Stem</a:t>
            </a:r>
            <a:r>
              <a:rPr dirty="0" sz="800" spc="12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Cell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treatments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on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breast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cancer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cells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on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different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disease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models.</a:t>
            </a:r>
            <a:r>
              <a:rPr dirty="0" sz="800" spc="93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5" u="sng">
                <a:solidFill>
                  <a:srgbClr val="666666"/>
                </a:solidFill>
                <a:latin typeface="QQICHE+Roboto-Light"/>
                <a:cs typeface="QQICHE+Roboto-Light"/>
              </a:rPr>
              <a:t>Amy</a:t>
            </a:r>
          </a:p>
          <a:p>
            <a:pPr marL="0" marR="0">
              <a:lnSpc>
                <a:spcPts val="937"/>
              </a:lnSpc>
              <a:spcBef>
                <a:spcPts val="170"/>
              </a:spcBef>
              <a:spcAft>
                <a:spcPts val="0"/>
              </a:spcAft>
            </a:pPr>
            <a:r>
              <a:rPr dirty="0" sz="800" spc="11" u="sng">
                <a:solidFill>
                  <a:srgbClr val="666666"/>
                </a:solidFill>
                <a:latin typeface="QQICHE+Roboto-Light"/>
                <a:cs typeface="QQICHE+Roboto-Light"/>
              </a:rPr>
              <a:t>was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 u="sng">
                <a:solidFill>
                  <a:srgbClr val="666666"/>
                </a:solidFill>
                <a:latin typeface="QQICHE+Roboto-Light"/>
                <a:cs typeface="QQICHE+Roboto-Light"/>
              </a:rPr>
              <a:t>awarded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the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 u="sng">
                <a:solidFill>
                  <a:srgbClr val="666666"/>
                </a:solidFill>
                <a:latin typeface="QQICHE+Roboto-Light"/>
                <a:cs typeface="QQICHE+Roboto-Light"/>
              </a:rPr>
              <a:t>Provost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 u="sng">
                <a:solidFill>
                  <a:srgbClr val="666666"/>
                </a:solidFill>
                <a:latin typeface="QQICHE+Roboto-Light"/>
                <a:cs typeface="QQICHE+Roboto-Light"/>
              </a:rPr>
              <a:t>Undergraduate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 u="sng">
                <a:solidFill>
                  <a:srgbClr val="666666"/>
                </a:solidFill>
                <a:latin typeface="QQICHE+Roboto-Light"/>
                <a:cs typeface="QQICHE+Roboto-Light"/>
              </a:rPr>
              <a:t>Research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Scholarship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 u="sng">
                <a:solidFill>
                  <a:srgbClr val="666666"/>
                </a:solidFill>
                <a:latin typeface="QQICHE+Roboto-Light"/>
                <a:cs typeface="QQICHE+Roboto-Light"/>
              </a:rPr>
              <a:t>(PURS)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for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2" u="sng">
                <a:solidFill>
                  <a:srgbClr val="666666"/>
                </a:solidFill>
                <a:latin typeface="QQICHE+Roboto-Light"/>
                <a:cs typeface="QQICHE+Roboto-Light"/>
              </a:rPr>
              <a:t>Summer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 u="sng">
                <a:solidFill>
                  <a:srgbClr val="666666"/>
                </a:solidFill>
                <a:latin typeface="QQICHE+Roboto-Light"/>
                <a:cs typeface="QQICHE+Roboto-Light"/>
              </a:rPr>
              <a:t>2021.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53350" y="1887078"/>
            <a:ext cx="8759919" cy="30620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 spc="10" b="1">
                <a:solidFill>
                  <a:srgbClr val="666666"/>
                </a:solidFill>
                <a:latin typeface="QDKLSE+Roboto-Bold"/>
                <a:cs typeface="QDKLSE+Roboto-Bold"/>
              </a:rPr>
              <a:t>Shanzeh</a:t>
            </a:r>
            <a:r>
              <a:rPr dirty="0" sz="800" b="1">
                <a:solidFill>
                  <a:srgbClr val="666666"/>
                </a:solidFill>
                <a:latin typeface="QDKLSE+Roboto-Bold"/>
                <a:cs typeface="QDKLSE+Roboto-Bold"/>
              </a:rPr>
              <a:t> </a:t>
            </a:r>
            <a:r>
              <a:rPr dirty="0" sz="800" spc="10" b="1">
                <a:solidFill>
                  <a:srgbClr val="666666"/>
                </a:solidFill>
                <a:latin typeface="QDKLSE+Roboto-Bold"/>
                <a:cs typeface="QDKLSE+Roboto-Bold"/>
              </a:rPr>
              <a:t>Imran</a:t>
            </a:r>
            <a:r>
              <a:rPr dirty="0" sz="800" b="1">
                <a:solidFill>
                  <a:srgbClr val="666666"/>
                </a:solidFill>
                <a:latin typeface="QDKLSE+Roboto-Bold"/>
                <a:cs typeface="QDKLSE+Roboto-Bold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-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research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focuses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on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will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focus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on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identifying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novel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serum</a:t>
            </a:r>
            <a:r>
              <a:rPr dirty="0" sz="800" spc="12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proteins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and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autoantibodies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for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blood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brain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barrier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breach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in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neuropsychiatric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systemic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lupus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erythematosus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using</a:t>
            </a:r>
          </a:p>
          <a:p>
            <a:pPr marL="0" marR="0">
              <a:lnSpc>
                <a:spcPts val="960"/>
              </a:lnSpc>
              <a:spcBef>
                <a:spcPts val="120"/>
              </a:spcBef>
              <a:spcAft>
                <a:spcPts val="0"/>
              </a:spcAft>
            </a:pP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proximity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ligation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assays.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Shanzeh</a:t>
            </a:r>
            <a:r>
              <a:rPr dirty="0" sz="800" spc="18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1" u="sng">
                <a:solidFill>
                  <a:srgbClr val="666666"/>
                </a:solidFill>
                <a:latin typeface="QQICHE+Roboto-Light"/>
                <a:cs typeface="QQICHE+Roboto-Light"/>
              </a:rPr>
              <a:t>was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 u="sng">
                <a:solidFill>
                  <a:srgbClr val="666666"/>
                </a:solidFill>
                <a:latin typeface="QQICHE+Roboto-Light"/>
                <a:cs typeface="QQICHE+Roboto-Light"/>
              </a:rPr>
              <a:t>awarded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the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2" u="sng">
                <a:solidFill>
                  <a:srgbClr val="666666"/>
                </a:solidFill>
                <a:latin typeface="QQICHE+Roboto-Light"/>
                <a:cs typeface="QQICHE+Roboto-Light"/>
              </a:rPr>
              <a:t>Summer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 u="sng">
                <a:solidFill>
                  <a:srgbClr val="666666"/>
                </a:solidFill>
                <a:latin typeface="QQICHE+Roboto-Light"/>
                <a:cs typeface="QQICHE+Roboto-Light"/>
              </a:rPr>
              <a:t>Undergraduate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 u="sng">
                <a:solidFill>
                  <a:srgbClr val="666666"/>
                </a:solidFill>
                <a:latin typeface="QQICHE+Roboto-Light"/>
                <a:cs typeface="QQICHE+Roboto-Light"/>
              </a:rPr>
              <a:t>Research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Fellowship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 u="sng">
                <a:solidFill>
                  <a:srgbClr val="666666"/>
                </a:solidFill>
                <a:latin typeface="QQICHE+Roboto-Light"/>
                <a:cs typeface="QQICHE+Roboto-Light"/>
              </a:rPr>
              <a:t>(SURF)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for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2" u="sng">
                <a:solidFill>
                  <a:srgbClr val="666666"/>
                </a:solidFill>
                <a:latin typeface="QQICHE+Roboto-Light"/>
                <a:cs typeface="QQICHE+Roboto-Light"/>
              </a:rPr>
              <a:t>Summer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 u="sng">
                <a:solidFill>
                  <a:srgbClr val="666666"/>
                </a:solidFill>
                <a:latin typeface="QQICHE+Roboto-Light"/>
                <a:cs typeface="QQICHE+Roboto-Light"/>
              </a:rPr>
              <a:t>2022.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53350" y="2212604"/>
            <a:ext cx="8702609" cy="3038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 spc="10" b="1">
                <a:solidFill>
                  <a:srgbClr val="666666"/>
                </a:solidFill>
                <a:latin typeface="QDKLSE+Roboto-Bold"/>
                <a:cs typeface="QDKLSE+Roboto-Bold"/>
              </a:rPr>
              <a:t>Maryann</a:t>
            </a:r>
            <a:r>
              <a:rPr dirty="0" sz="800" b="1">
                <a:solidFill>
                  <a:srgbClr val="666666"/>
                </a:solidFill>
                <a:latin typeface="QDKLSE+Roboto-Bold"/>
                <a:cs typeface="QDKLSE+Roboto-Bold"/>
              </a:rPr>
              <a:t> </a:t>
            </a:r>
            <a:r>
              <a:rPr dirty="0" sz="800" b="1">
                <a:solidFill>
                  <a:srgbClr val="666666"/>
                </a:solidFill>
                <a:latin typeface="QDKLSE+Roboto-Bold"/>
                <a:cs typeface="QDKLSE+Roboto-Bold"/>
              </a:rPr>
              <a:t>Ivbievbiokun</a:t>
            </a:r>
            <a:r>
              <a:rPr dirty="0" sz="800" spc="-10" b="1">
                <a:solidFill>
                  <a:srgbClr val="666666"/>
                </a:solidFill>
                <a:latin typeface="QDKLSE+Roboto-Bold"/>
                <a:cs typeface="QDKLSE+Roboto-Bold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-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research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focus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is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on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using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imaging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2">
                <a:solidFill>
                  <a:srgbClr val="666666"/>
                </a:solidFill>
                <a:latin typeface="QQICHE+Roboto-Light"/>
                <a:cs typeface="QQICHE+Roboto-Light"/>
              </a:rPr>
              <a:t>mass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cytometry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to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identify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when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and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where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various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proteins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are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expressed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in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kidney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tissues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and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using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the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results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to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qualitatively</a:t>
            </a:r>
          </a:p>
          <a:p>
            <a:pPr marL="0" marR="0">
              <a:lnSpc>
                <a:spcPts val="960"/>
              </a:lnSpc>
              <a:spcBef>
                <a:spcPts val="120"/>
              </a:spcBef>
              <a:spcAft>
                <a:spcPts val="0"/>
              </a:spcAft>
            </a:pP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compare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protein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levels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in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both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mild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and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severe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cases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of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1">
                <a:solidFill>
                  <a:srgbClr val="666666"/>
                </a:solidFill>
                <a:latin typeface="QQICHE+Roboto-Light"/>
                <a:cs typeface="QQICHE+Roboto-Light"/>
              </a:rPr>
              <a:t>LN.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53350" y="2538130"/>
            <a:ext cx="8813014" cy="3038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 b="1">
                <a:solidFill>
                  <a:srgbClr val="666666"/>
                </a:solidFill>
                <a:latin typeface="QDKLSE+Roboto-Bold"/>
                <a:cs typeface="QDKLSE+Roboto-Bold"/>
              </a:rPr>
              <a:t>Christina</a:t>
            </a:r>
            <a:r>
              <a:rPr dirty="0" sz="800" b="1">
                <a:solidFill>
                  <a:srgbClr val="666666"/>
                </a:solidFill>
                <a:latin typeface="QDKLSE+Roboto-Bold"/>
                <a:cs typeface="QDKLSE+Roboto-Bold"/>
              </a:rPr>
              <a:t> </a:t>
            </a:r>
            <a:r>
              <a:rPr dirty="0" sz="800" b="1">
                <a:solidFill>
                  <a:srgbClr val="666666"/>
                </a:solidFill>
                <a:latin typeface="QDKLSE+Roboto-Bold"/>
                <a:cs typeface="QDKLSE+Roboto-Bold"/>
              </a:rPr>
              <a:t>Kuruvilla</a:t>
            </a:r>
            <a:r>
              <a:rPr dirty="0" sz="800" b="1">
                <a:solidFill>
                  <a:srgbClr val="666666"/>
                </a:solidFill>
                <a:latin typeface="QDKLSE+Roboto-Bold"/>
                <a:cs typeface="QDKLSE+Roboto-Bold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-</a:t>
            </a:r>
            <a:r>
              <a:rPr dirty="0" sz="800" spc="209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research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focus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is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on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the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synthesis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and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biomedical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applications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of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2D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nanomaterials,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specifically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layered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double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hydroxides.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She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works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in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collaboration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with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Dr.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Varghese’s</a:t>
            </a:r>
          </a:p>
          <a:p>
            <a:pPr marL="0" marR="0">
              <a:lnSpc>
                <a:spcPts val="960"/>
              </a:lnSpc>
              <a:spcBef>
                <a:spcPts val="120"/>
              </a:spcBef>
              <a:spcAft>
                <a:spcPts val="0"/>
              </a:spcAft>
            </a:pP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Physics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Lab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on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exploring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the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efficiency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of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nanoparticles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as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an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adjuvant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for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immunotherapy.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53350" y="2863657"/>
            <a:ext cx="8731532" cy="1601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 spc="10" b="1">
                <a:solidFill>
                  <a:srgbClr val="666666"/>
                </a:solidFill>
                <a:latin typeface="QDKLSE+Roboto-Bold"/>
                <a:cs typeface="QDKLSE+Roboto-Bold"/>
              </a:rPr>
              <a:t>Maliha</a:t>
            </a:r>
            <a:r>
              <a:rPr dirty="0" sz="800" b="1">
                <a:solidFill>
                  <a:srgbClr val="666666"/>
                </a:solidFill>
                <a:latin typeface="QDKLSE+Roboto-Bold"/>
                <a:cs typeface="QDKLSE+Roboto-Bold"/>
              </a:rPr>
              <a:t> </a:t>
            </a:r>
            <a:r>
              <a:rPr dirty="0" sz="800" spc="10" b="1">
                <a:solidFill>
                  <a:srgbClr val="666666"/>
                </a:solidFill>
                <a:latin typeface="QDKLSE+Roboto-Bold"/>
                <a:cs typeface="QDKLSE+Roboto-Bold"/>
              </a:rPr>
              <a:t>Mir</a:t>
            </a:r>
            <a:r>
              <a:rPr dirty="0" sz="800" spc="-30" b="1">
                <a:solidFill>
                  <a:srgbClr val="666666"/>
                </a:solidFill>
                <a:latin typeface="QDKLSE+Roboto-Bold"/>
                <a:cs typeface="QDKLSE+Roboto-Bold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-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research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focus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is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on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exploring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appropriate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conditions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for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growth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of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1">
                <a:solidFill>
                  <a:srgbClr val="666666"/>
                </a:solidFill>
                <a:latin typeface="QQICHE+Roboto-Light"/>
                <a:cs typeface="QQICHE+Roboto-Light"/>
              </a:rPr>
              <a:t>immune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cells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and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nvestigating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the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viability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of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splenocytes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using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splenoid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culture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and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flow</a:t>
            </a:r>
            <a:r>
              <a:rPr dirty="0" sz="800" spc="11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cytometry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analysis.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53350" y="3045470"/>
            <a:ext cx="8350098" cy="30620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 spc="10" b="1">
                <a:solidFill>
                  <a:srgbClr val="666666"/>
                </a:solidFill>
                <a:latin typeface="QDKLSE+Roboto-Bold"/>
                <a:cs typeface="QDKLSE+Roboto-Bold"/>
              </a:rPr>
              <a:t>Rani</a:t>
            </a:r>
            <a:r>
              <a:rPr dirty="0" sz="800" b="1">
                <a:solidFill>
                  <a:srgbClr val="666666"/>
                </a:solidFill>
                <a:latin typeface="QDKLSE+Roboto-Bold"/>
                <a:cs typeface="QDKLSE+Roboto-Bold"/>
              </a:rPr>
              <a:t> </a:t>
            </a:r>
            <a:r>
              <a:rPr dirty="0" sz="800" spc="11" b="1">
                <a:solidFill>
                  <a:srgbClr val="666666"/>
                </a:solidFill>
                <a:latin typeface="QDKLSE+Roboto-Bold"/>
                <a:cs typeface="QDKLSE+Roboto-Bold"/>
              </a:rPr>
              <a:t>Nune</a:t>
            </a:r>
            <a:r>
              <a:rPr dirty="0" sz="800" b="1">
                <a:solidFill>
                  <a:srgbClr val="666666"/>
                </a:solidFill>
                <a:latin typeface="QDKLSE+Roboto-Bold"/>
                <a:cs typeface="QDKLSE+Roboto-Bold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-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research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focus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is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on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1">
                <a:solidFill>
                  <a:srgbClr val="666666"/>
                </a:solidFill>
                <a:latin typeface="QQICHE+Roboto-Light"/>
                <a:cs typeface="QQICHE+Roboto-Light"/>
              </a:rPr>
              <a:t>ALCAM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(CD166),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a</a:t>
            </a:r>
            <a:r>
              <a:rPr dirty="0" sz="800" spc="15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protein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biomarker,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and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the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mechanism</a:t>
            </a:r>
            <a:r>
              <a:rPr dirty="0" sz="800" spc="11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by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which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it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promotes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the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development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of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lupus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nephritis.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She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also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explores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the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molecular</a:t>
            </a:r>
          </a:p>
          <a:p>
            <a:pPr marL="0" marR="0">
              <a:lnSpc>
                <a:spcPts val="960"/>
              </a:lnSpc>
              <a:spcBef>
                <a:spcPts val="120"/>
              </a:spcBef>
              <a:spcAft>
                <a:spcPts val="0"/>
              </a:spcAft>
            </a:pP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mechanisms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of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1">
                <a:solidFill>
                  <a:srgbClr val="666666"/>
                </a:solidFill>
                <a:latin typeface="QQICHE+Roboto-Light"/>
                <a:cs typeface="QQICHE+Roboto-Light"/>
              </a:rPr>
              <a:t>BANK1,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to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determine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how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the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gene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promotes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autoimmunity.</a:t>
            </a:r>
            <a:r>
              <a:rPr dirty="0" sz="800" spc="25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 u="sng">
                <a:solidFill>
                  <a:srgbClr val="666666"/>
                </a:solidFill>
                <a:latin typeface="QQICHE+Roboto-Light"/>
                <a:cs typeface="QQICHE+Roboto-Light"/>
              </a:rPr>
              <a:t>Rani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1" u="sng">
                <a:solidFill>
                  <a:srgbClr val="666666"/>
                </a:solidFill>
                <a:latin typeface="QQICHE+Roboto-Light"/>
                <a:cs typeface="QQICHE+Roboto-Light"/>
              </a:rPr>
              <a:t>was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 u="sng">
                <a:solidFill>
                  <a:srgbClr val="666666"/>
                </a:solidFill>
                <a:latin typeface="QQICHE+Roboto-Light"/>
                <a:cs typeface="QQICHE+Roboto-Light"/>
              </a:rPr>
              <a:t>awarded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the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2" u="sng">
                <a:solidFill>
                  <a:srgbClr val="666666"/>
                </a:solidFill>
                <a:latin typeface="QQICHE+Roboto-Light"/>
                <a:cs typeface="QQICHE+Roboto-Light"/>
              </a:rPr>
              <a:t>Summer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 u="sng">
                <a:solidFill>
                  <a:srgbClr val="666666"/>
                </a:solidFill>
                <a:latin typeface="QQICHE+Roboto-Light"/>
                <a:cs typeface="QQICHE+Roboto-Light"/>
              </a:rPr>
              <a:t>Undergraduate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 u="sng">
                <a:solidFill>
                  <a:srgbClr val="666666"/>
                </a:solidFill>
                <a:latin typeface="QQICHE+Roboto-Light"/>
                <a:cs typeface="QQICHE+Roboto-Light"/>
              </a:rPr>
              <a:t>Research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Fellowship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 u="sng">
                <a:solidFill>
                  <a:srgbClr val="666666"/>
                </a:solidFill>
                <a:latin typeface="QQICHE+Roboto-Light"/>
                <a:cs typeface="QQICHE+Roboto-Light"/>
              </a:rPr>
              <a:t>(SURF)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for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2" u="sng">
                <a:solidFill>
                  <a:srgbClr val="666666"/>
                </a:solidFill>
                <a:latin typeface="QQICHE+Roboto-Light"/>
                <a:cs typeface="QQICHE+Roboto-Light"/>
              </a:rPr>
              <a:t>Summer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 u="sng">
                <a:solidFill>
                  <a:srgbClr val="666666"/>
                </a:solidFill>
                <a:latin typeface="QQICHE+Roboto-Light"/>
                <a:cs typeface="QQICHE+Roboto-Light"/>
              </a:rPr>
              <a:t>2022.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53350" y="3370996"/>
            <a:ext cx="8712586" cy="30620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 spc="11" b="1">
                <a:solidFill>
                  <a:srgbClr val="666666"/>
                </a:solidFill>
                <a:latin typeface="QDKLSE+Roboto-Bold"/>
                <a:cs typeface="QDKLSE+Roboto-Bold"/>
              </a:rPr>
              <a:t>Nhi</a:t>
            </a:r>
            <a:r>
              <a:rPr dirty="0" sz="800" b="1">
                <a:solidFill>
                  <a:srgbClr val="666666"/>
                </a:solidFill>
                <a:latin typeface="QDKLSE+Roboto-Bold"/>
                <a:cs typeface="QDKLSE+Roboto-Bold"/>
              </a:rPr>
              <a:t> </a:t>
            </a:r>
            <a:r>
              <a:rPr dirty="0" sz="800" spc="10" b="1">
                <a:solidFill>
                  <a:srgbClr val="666666"/>
                </a:solidFill>
                <a:latin typeface="QDKLSE+Roboto-Bold"/>
                <a:cs typeface="QDKLSE+Roboto-Bold"/>
              </a:rPr>
              <a:t>Nguyen</a:t>
            </a:r>
            <a:r>
              <a:rPr dirty="0" sz="800" spc="-14" b="1">
                <a:solidFill>
                  <a:srgbClr val="666666"/>
                </a:solidFill>
                <a:latin typeface="QDKLSE+Roboto-Bold"/>
                <a:cs typeface="QDKLSE+Roboto-Bold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-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currently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working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on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immunohistochemistry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to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identify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specific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genes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on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specific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tissues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of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the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mouse’s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kidney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such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as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1">
                <a:solidFill>
                  <a:srgbClr val="666666"/>
                </a:solidFill>
                <a:latin typeface="QQICHE+Roboto-Light"/>
                <a:cs typeface="QQICHE+Roboto-Light"/>
              </a:rPr>
              <a:t>CD31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to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compare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the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difference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in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tissue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structure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and</a:t>
            </a:r>
          </a:p>
          <a:p>
            <a:pPr marL="0" marR="0">
              <a:lnSpc>
                <a:spcPts val="960"/>
              </a:lnSpc>
              <a:spcBef>
                <a:spcPts val="120"/>
              </a:spcBef>
              <a:spcAft>
                <a:spcPts val="0"/>
              </a:spcAft>
            </a:pP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gene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expression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between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the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healthy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1">
                <a:solidFill>
                  <a:srgbClr val="666666"/>
                </a:solidFill>
                <a:latin typeface="QQICHE+Roboto-Light"/>
                <a:cs typeface="QQICHE+Roboto-Light"/>
              </a:rPr>
              <a:t>mouse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and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the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lupus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1">
                <a:solidFill>
                  <a:srgbClr val="666666"/>
                </a:solidFill>
                <a:latin typeface="QQICHE+Roboto-Light"/>
                <a:cs typeface="QQICHE+Roboto-Light"/>
              </a:rPr>
              <a:t>mouse.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1" u="sng">
                <a:solidFill>
                  <a:srgbClr val="666666"/>
                </a:solidFill>
                <a:latin typeface="QQICHE+Roboto-Light"/>
                <a:cs typeface="QQICHE+Roboto-Light"/>
              </a:rPr>
              <a:t>Nhi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1" u="sng">
                <a:solidFill>
                  <a:srgbClr val="666666"/>
                </a:solidFill>
                <a:latin typeface="QQICHE+Roboto-Light"/>
                <a:cs typeface="QQICHE+Roboto-Light"/>
              </a:rPr>
              <a:t>was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 u="sng">
                <a:solidFill>
                  <a:srgbClr val="666666"/>
                </a:solidFill>
                <a:latin typeface="QQICHE+Roboto-Light"/>
                <a:cs typeface="QQICHE+Roboto-Light"/>
              </a:rPr>
              <a:t>awarded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the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 u="sng">
                <a:solidFill>
                  <a:srgbClr val="666666"/>
                </a:solidFill>
                <a:latin typeface="QQICHE+Roboto-Light"/>
                <a:cs typeface="QQICHE+Roboto-Light"/>
              </a:rPr>
              <a:t>Provost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 u="sng">
                <a:solidFill>
                  <a:srgbClr val="666666"/>
                </a:solidFill>
                <a:latin typeface="QQICHE+Roboto-Light"/>
                <a:cs typeface="QQICHE+Roboto-Light"/>
              </a:rPr>
              <a:t>Undergraduate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 u="sng">
                <a:solidFill>
                  <a:srgbClr val="666666"/>
                </a:solidFill>
                <a:latin typeface="QQICHE+Roboto-Light"/>
                <a:cs typeface="QQICHE+Roboto-Light"/>
              </a:rPr>
              <a:t>Research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Scholarship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 u="sng">
                <a:solidFill>
                  <a:srgbClr val="666666"/>
                </a:solidFill>
                <a:latin typeface="QQICHE+Roboto-Light"/>
                <a:cs typeface="QQICHE+Roboto-Light"/>
              </a:rPr>
              <a:t>(PURS)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for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2" u="sng">
                <a:solidFill>
                  <a:srgbClr val="666666"/>
                </a:solidFill>
                <a:latin typeface="QQICHE+Roboto-Light"/>
                <a:cs typeface="QQICHE+Roboto-Light"/>
              </a:rPr>
              <a:t>Summer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 u="sng">
                <a:solidFill>
                  <a:srgbClr val="666666"/>
                </a:solidFill>
                <a:latin typeface="QQICHE+Roboto-Light"/>
                <a:cs typeface="QQICHE+Roboto-Light"/>
              </a:rPr>
              <a:t>2021.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53350" y="3696522"/>
            <a:ext cx="4395671" cy="1601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 spc="10" b="1">
                <a:solidFill>
                  <a:srgbClr val="666666"/>
                </a:solidFill>
                <a:latin typeface="QDKLSE+Roboto-Bold"/>
                <a:cs typeface="QDKLSE+Roboto-Bold"/>
              </a:rPr>
              <a:t>Maryam</a:t>
            </a:r>
            <a:r>
              <a:rPr dirty="0" sz="800" spc="10" b="1">
                <a:solidFill>
                  <a:srgbClr val="666666"/>
                </a:solidFill>
                <a:latin typeface="QDKLSE+Roboto-Bold"/>
                <a:cs typeface="QDKLSE+Roboto-Bold"/>
              </a:rPr>
              <a:t> </a:t>
            </a:r>
            <a:r>
              <a:rPr dirty="0" sz="800" spc="10" b="1">
                <a:solidFill>
                  <a:srgbClr val="666666"/>
                </a:solidFill>
                <a:latin typeface="QDKLSE+Roboto-Bold"/>
                <a:cs typeface="QDKLSE+Roboto-Bold"/>
              </a:rPr>
              <a:t>Obaid-</a:t>
            </a:r>
            <a:r>
              <a:rPr dirty="0" sz="800" spc="-21" b="1">
                <a:solidFill>
                  <a:srgbClr val="666666"/>
                </a:solidFill>
                <a:latin typeface="QDKLSE+Roboto-Bold"/>
                <a:cs typeface="QDKLSE+Roboto-Bold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Research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focuses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on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identifying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selective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ligands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using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combinatorial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assays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53350" y="3878336"/>
            <a:ext cx="8655812" cy="30620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 b="1">
                <a:solidFill>
                  <a:srgbClr val="666666"/>
                </a:solidFill>
                <a:latin typeface="QDKLSE+Roboto-Bold"/>
                <a:cs typeface="QDKLSE+Roboto-Bold"/>
              </a:rPr>
              <a:t>Kala</a:t>
            </a:r>
            <a:r>
              <a:rPr dirty="0" sz="800" b="1">
                <a:solidFill>
                  <a:srgbClr val="666666"/>
                </a:solidFill>
                <a:latin typeface="QDKLSE+Roboto-Bold"/>
                <a:cs typeface="QDKLSE+Roboto-Bold"/>
              </a:rPr>
              <a:t> </a:t>
            </a:r>
            <a:r>
              <a:rPr dirty="0" sz="800" spc="10" b="1">
                <a:solidFill>
                  <a:srgbClr val="666666"/>
                </a:solidFill>
                <a:latin typeface="QDKLSE+Roboto-Bold"/>
                <a:cs typeface="QDKLSE+Roboto-Bold"/>
              </a:rPr>
              <a:t>Pham</a:t>
            </a:r>
            <a:r>
              <a:rPr dirty="0" sz="800" b="1">
                <a:solidFill>
                  <a:srgbClr val="666666"/>
                </a:solidFill>
                <a:latin typeface="QDKLSE+Roboto-Bold"/>
                <a:cs typeface="QDKLSE+Roboto-Bold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-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research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focus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is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on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developing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a</a:t>
            </a:r>
            <a:r>
              <a:rPr dirty="0" sz="800" spc="15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high-throughput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3D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glomerular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platform</a:t>
            </a:r>
            <a:r>
              <a:rPr dirty="0" sz="800" spc="14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that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will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help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in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identifying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the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key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biomolecules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and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their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relevant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signaling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pathways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involved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in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the</a:t>
            </a:r>
          </a:p>
          <a:p>
            <a:pPr marL="0" marR="0">
              <a:lnSpc>
                <a:spcPts val="960"/>
              </a:lnSpc>
              <a:spcBef>
                <a:spcPts val="120"/>
              </a:spcBef>
              <a:spcAft>
                <a:spcPts val="0"/>
              </a:spcAft>
            </a:pP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disease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pathogenesis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of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multiple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renal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diseases.</a:t>
            </a:r>
            <a:r>
              <a:rPr dirty="0" sz="800" spc="12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Kala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1" u="sng">
                <a:solidFill>
                  <a:srgbClr val="666666"/>
                </a:solidFill>
                <a:latin typeface="QQICHE+Roboto-Light"/>
                <a:cs typeface="QQICHE+Roboto-Light"/>
              </a:rPr>
              <a:t>was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 u="sng">
                <a:solidFill>
                  <a:srgbClr val="666666"/>
                </a:solidFill>
                <a:latin typeface="QQICHE+Roboto-Light"/>
                <a:cs typeface="QQICHE+Roboto-Light"/>
              </a:rPr>
              <a:t>awarded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the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2" u="sng">
                <a:solidFill>
                  <a:srgbClr val="666666"/>
                </a:solidFill>
                <a:latin typeface="QQICHE+Roboto-Light"/>
                <a:cs typeface="QQICHE+Roboto-Light"/>
              </a:rPr>
              <a:t>Summer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 u="sng">
                <a:solidFill>
                  <a:srgbClr val="666666"/>
                </a:solidFill>
                <a:latin typeface="QQICHE+Roboto-Light"/>
                <a:cs typeface="QQICHE+Roboto-Light"/>
              </a:rPr>
              <a:t>Undergraduate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 u="sng">
                <a:solidFill>
                  <a:srgbClr val="666666"/>
                </a:solidFill>
                <a:latin typeface="QQICHE+Roboto-Light"/>
                <a:cs typeface="QQICHE+Roboto-Light"/>
              </a:rPr>
              <a:t>Research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Scholarship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for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2" u="sng">
                <a:solidFill>
                  <a:srgbClr val="666666"/>
                </a:solidFill>
                <a:latin typeface="QQICHE+Roboto-Light"/>
                <a:cs typeface="QQICHE+Roboto-Light"/>
              </a:rPr>
              <a:t>Summer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2021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53350" y="4203862"/>
            <a:ext cx="7479591" cy="1601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 b="1">
                <a:solidFill>
                  <a:srgbClr val="666666"/>
                </a:solidFill>
                <a:latin typeface="QDKLSE+Roboto-Bold"/>
                <a:cs typeface="QDKLSE+Roboto-Bold"/>
              </a:rPr>
              <a:t>Navriti</a:t>
            </a:r>
            <a:r>
              <a:rPr dirty="0" sz="800" b="1">
                <a:solidFill>
                  <a:srgbClr val="666666"/>
                </a:solidFill>
                <a:latin typeface="QDKLSE+Roboto-Bold"/>
                <a:cs typeface="QDKLSE+Roboto-Bold"/>
              </a:rPr>
              <a:t> </a:t>
            </a:r>
            <a:r>
              <a:rPr dirty="0" sz="800" spc="10" b="1">
                <a:solidFill>
                  <a:srgbClr val="666666"/>
                </a:solidFill>
                <a:latin typeface="QDKLSE+Roboto-Bold"/>
                <a:cs typeface="QDKLSE+Roboto-Bold"/>
              </a:rPr>
              <a:t>Sabhnani</a:t>
            </a:r>
            <a:r>
              <a:rPr dirty="0" sz="800" b="1">
                <a:solidFill>
                  <a:srgbClr val="666666"/>
                </a:solidFill>
                <a:latin typeface="QDKLSE+Roboto-Bold"/>
                <a:cs typeface="QDKLSE+Roboto-Bold"/>
              </a:rPr>
              <a:t> </a:t>
            </a:r>
            <a:r>
              <a:rPr dirty="0" sz="800" b="1">
                <a:solidFill>
                  <a:srgbClr val="666666"/>
                </a:solidFill>
                <a:latin typeface="QDKLSE+Roboto-Bold"/>
                <a:cs typeface="QDKLSE+Roboto-Bold"/>
              </a:rPr>
              <a:t>-</a:t>
            </a:r>
            <a:r>
              <a:rPr dirty="0" sz="800" spc="-23" b="1">
                <a:solidFill>
                  <a:srgbClr val="666666"/>
                </a:solidFill>
                <a:latin typeface="QDKLSE+Roboto-Bold"/>
                <a:cs typeface="QDKLSE+Roboto-Bold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her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primary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focus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will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be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on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learning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protocols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and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procedures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involving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3D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cell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cultures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and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to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gain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familiarity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of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flow</a:t>
            </a:r>
            <a:r>
              <a:rPr dirty="0" sz="800" spc="11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cytometry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and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reporting.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53350" y="4385675"/>
            <a:ext cx="8767226" cy="30620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 b="1">
                <a:solidFill>
                  <a:srgbClr val="666666"/>
                </a:solidFill>
                <a:latin typeface="QDKLSE+Roboto-Bold"/>
                <a:cs typeface="QDKLSE+Roboto-Bold"/>
              </a:rPr>
              <a:t>Michelle</a:t>
            </a:r>
            <a:r>
              <a:rPr dirty="0" sz="800" b="1">
                <a:solidFill>
                  <a:srgbClr val="666666"/>
                </a:solidFill>
                <a:latin typeface="QDKLSE+Roboto-Bold"/>
                <a:cs typeface="QDKLSE+Roboto-Bold"/>
              </a:rPr>
              <a:t> </a:t>
            </a:r>
            <a:r>
              <a:rPr dirty="0" sz="800" spc="10" b="1">
                <a:solidFill>
                  <a:srgbClr val="666666"/>
                </a:solidFill>
                <a:latin typeface="QDKLSE+Roboto-Bold"/>
                <a:cs typeface="QDKLSE+Roboto-Bold"/>
              </a:rPr>
              <a:t>(Nga)</a:t>
            </a:r>
            <a:r>
              <a:rPr dirty="0" sz="800" b="1">
                <a:solidFill>
                  <a:srgbClr val="666666"/>
                </a:solidFill>
                <a:latin typeface="QDKLSE+Roboto-Bold"/>
                <a:cs typeface="QDKLSE+Roboto-Bold"/>
              </a:rPr>
              <a:t> </a:t>
            </a:r>
            <a:r>
              <a:rPr dirty="0" sz="800" spc="10" b="1">
                <a:solidFill>
                  <a:srgbClr val="666666"/>
                </a:solidFill>
                <a:latin typeface="QDKLSE+Roboto-Bold"/>
                <a:cs typeface="QDKLSE+Roboto-Bold"/>
              </a:rPr>
              <a:t>Thai</a:t>
            </a:r>
            <a:r>
              <a:rPr dirty="0" sz="800" spc="-50" b="1">
                <a:solidFill>
                  <a:srgbClr val="666666"/>
                </a:solidFill>
                <a:latin typeface="QDKLSE+Roboto-Bold"/>
                <a:cs typeface="QDKLSE+Roboto-Bold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-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research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focuses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on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developing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and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optimizing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a</a:t>
            </a:r>
            <a:r>
              <a:rPr dirty="0" sz="800" spc="15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point-of-care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diagnostic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test: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a</a:t>
            </a:r>
            <a:r>
              <a:rPr dirty="0" sz="800" spc="15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Schimer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strip-coupled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vertical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flow</a:t>
            </a:r>
            <a:r>
              <a:rPr dirty="0" sz="800" spc="11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essay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(VFA)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that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will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be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used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to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detect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2">
                <a:solidFill>
                  <a:srgbClr val="666666"/>
                </a:solidFill>
                <a:latin typeface="QQICHE+Roboto-Light"/>
                <a:cs typeface="QQICHE+Roboto-Light"/>
              </a:rPr>
              <a:t>MMP-9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levels</a:t>
            </a:r>
          </a:p>
          <a:p>
            <a:pPr marL="0" marR="0">
              <a:lnSpc>
                <a:spcPts val="960"/>
              </a:lnSpc>
              <a:spcBef>
                <a:spcPts val="120"/>
              </a:spcBef>
              <a:spcAft>
                <a:spcPts val="0"/>
              </a:spcAft>
            </a:pP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in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tears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of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Dry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Eye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disease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patients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to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diagnose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and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quantify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disease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severity.</a:t>
            </a:r>
            <a:r>
              <a:rPr dirty="0" sz="800" spc="15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Michelle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1" u="sng">
                <a:solidFill>
                  <a:srgbClr val="666666"/>
                </a:solidFill>
                <a:latin typeface="QQICHE+Roboto-Light"/>
                <a:cs typeface="QQICHE+Roboto-Light"/>
              </a:rPr>
              <a:t>was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 u="sng">
                <a:solidFill>
                  <a:srgbClr val="666666"/>
                </a:solidFill>
                <a:latin typeface="QQICHE+Roboto-Light"/>
                <a:cs typeface="QQICHE+Roboto-Light"/>
              </a:rPr>
              <a:t>awarded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the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2" u="sng">
                <a:solidFill>
                  <a:srgbClr val="666666"/>
                </a:solidFill>
                <a:latin typeface="QQICHE+Roboto-Light"/>
                <a:cs typeface="QQICHE+Roboto-Light"/>
              </a:rPr>
              <a:t>Summer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 u="sng">
                <a:solidFill>
                  <a:srgbClr val="666666"/>
                </a:solidFill>
                <a:latin typeface="QQICHE+Roboto-Light"/>
                <a:cs typeface="QQICHE+Roboto-Light"/>
              </a:rPr>
              <a:t>Undergraduate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 u="sng">
                <a:solidFill>
                  <a:srgbClr val="666666"/>
                </a:solidFill>
                <a:latin typeface="QQICHE+Roboto-Light"/>
                <a:cs typeface="QQICHE+Roboto-Light"/>
              </a:rPr>
              <a:t>Research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Fellowship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 u="sng">
                <a:solidFill>
                  <a:srgbClr val="666666"/>
                </a:solidFill>
                <a:latin typeface="QQICHE+Roboto-Light"/>
                <a:cs typeface="QQICHE+Roboto-Light"/>
              </a:rPr>
              <a:t>(SURF)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for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2" u="sng">
                <a:solidFill>
                  <a:srgbClr val="666666"/>
                </a:solidFill>
                <a:latin typeface="QQICHE+Roboto-Light"/>
                <a:cs typeface="QQICHE+Roboto-Light"/>
              </a:rPr>
              <a:t>Summer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 u="sng">
                <a:solidFill>
                  <a:srgbClr val="666666"/>
                </a:solidFill>
                <a:latin typeface="QQICHE+Roboto-Light"/>
                <a:cs typeface="QQICHE+Roboto-Light"/>
              </a:rPr>
              <a:t>2022.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53350" y="4711201"/>
            <a:ext cx="8478291" cy="30620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 spc="10" b="1">
                <a:solidFill>
                  <a:srgbClr val="666666"/>
                </a:solidFill>
                <a:latin typeface="QDKLSE+Roboto-Bold"/>
                <a:cs typeface="QDKLSE+Roboto-Bold"/>
              </a:rPr>
              <a:t>Phunongthy</a:t>
            </a:r>
            <a:r>
              <a:rPr dirty="0" sz="800" b="1">
                <a:solidFill>
                  <a:srgbClr val="666666"/>
                </a:solidFill>
                <a:latin typeface="QDKLSE+Roboto-Bold"/>
                <a:cs typeface="QDKLSE+Roboto-Bold"/>
              </a:rPr>
              <a:t> </a:t>
            </a:r>
            <a:r>
              <a:rPr dirty="0" sz="800" spc="11" b="1">
                <a:solidFill>
                  <a:srgbClr val="666666"/>
                </a:solidFill>
                <a:latin typeface="QDKLSE+Roboto-Bold"/>
                <a:cs typeface="QDKLSE+Roboto-Bold"/>
              </a:rPr>
              <a:t>T.</a:t>
            </a:r>
            <a:r>
              <a:rPr dirty="0" sz="800" b="1">
                <a:solidFill>
                  <a:srgbClr val="666666"/>
                </a:solidFill>
                <a:latin typeface="QDKLSE+Roboto-Bold"/>
                <a:cs typeface="QDKLSE+Roboto-Bold"/>
              </a:rPr>
              <a:t> </a:t>
            </a:r>
            <a:r>
              <a:rPr dirty="0" sz="800" spc="10" b="1">
                <a:solidFill>
                  <a:srgbClr val="666666"/>
                </a:solidFill>
                <a:latin typeface="QDKLSE+Roboto-Bold"/>
                <a:cs typeface="QDKLSE+Roboto-Bold"/>
              </a:rPr>
              <a:t>Tran</a:t>
            </a:r>
            <a:r>
              <a:rPr dirty="0" sz="800" b="1">
                <a:solidFill>
                  <a:srgbClr val="666666"/>
                </a:solidFill>
                <a:latin typeface="QDKLSE+Roboto-Bold"/>
                <a:cs typeface="QDKLSE+Roboto-Bold"/>
              </a:rPr>
              <a:t> </a:t>
            </a:r>
            <a:r>
              <a:rPr dirty="0" sz="800" b="1">
                <a:solidFill>
                  <a:srgbClr val="666666"/>
                </a:solidFill>
                <a:latin typeface="QDKLSE+Roboto-Bold"/>
                <a:cs typeface="QDKLSE+Roboto-Bold"/>
              </a:rPr>
              <a:t>-</a:t>
            </a:r>
            <a:r>
              <a:rPr dirty="0" sz="800" spc="14" b="1">
                <a:solidFill>
                  <a:srgbClr val="666666"/>
                </a:solidFill>
                <a:latin typeface="QDKLSE+Roboto-Bold"/>
                <a:cs typeface="QDKLSE+Roboto-Bold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literature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review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of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the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top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ten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themes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of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systemic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lupus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erythematosus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with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a</a:t>
            </a:r>
            <a:r>
              <a:rPr dirty="0" sz="800" spc="15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focus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on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environmental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and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genetic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factors.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She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is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also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helping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to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develop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a</a:t>
            </a:r>
            <a:r>
              <a:rPr dirty="0" sz="800" spc="15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lupus</a:t>
            </a:r>
          </a:p>
          <a:p>
            <a:pPr marL="0" marR="0">
              <a:lnSpc>
                <a:spcPts val="960"/>
              </a:lnSpc>
              <a:spcBef>
                <a:spcPts val="120"/>
              </a:spcBef>
              <a:spcAft>
                <a:spcPts val="0"/>
              </a:spcAft>
            </a:pP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tracking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app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that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can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be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used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in</a:t>
            </a:r>
            <a:r>
              <a:rPr dirty="0" sz="800" spc="1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future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clinical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research.</a:t>
            </a:r>
            <a:r>
              <a:rPr dirty="0" sz="800" spc="-174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 u="sng">
                <a:solidFill>
                  <a:srgbClr val="666666"/>
                </a:solidFill>
                <a:latin typeface="QQICHE+Roboto-Light"/>
                <a:cs typeface="QQICHE+Roboto-Light"/>
              </a:rPr>
              <a:t>Phuongthy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1" u="sng">
                <a:solidFill>
                  <a:srgbClr val="666666"/>
                </a:solidFill>
                <a:latin typeface="QQICHE+Roboto-Light"/>
                <a:cs typeface="QQICHE+Roboto-Light"/>
              </a:rPr>
              <a:t>was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 u="sng">
                <a:solidFill>
                  <a:srgbClr val="666666"/>
                </a:solidFill>
                <a:latin typeface="QQICHE+Roboto-Light"/>
                <a:cs typeface="QQICHE+Roboto-Light"/>
              </a:rPr>
              <a:t>awarded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the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2" u="sng">
                <a:solidFill>
                  <a:srgbClr val="666666"/>
                </a:solidFill>
                <a:latin typeface="QQICHE+Roboto-Light"/>
                <a:cs typeface="QQICHE+Roboto-Light"/>
              </a:rPr>
              <a:t>Summer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 u="sng">
                <a:solidFill>
                  <a:srgbClr val="666666"/>
                </a:solidFill>
                <a:latin typeface="QQICHE+Roboto-Light"/>
                <a:cs typeface="QQICHE+Roboto-Light"/>
              </a:rPr>
              <a:t>Undergraduate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 u="sng">
                <a:solidFill>
                  <a:srgbClr val="666666"/>
                </a:solidFill>
                <a:latin typeface="QQICHE+Roboto-Light"/>
                <a:cs typeface="QQICHE+Roboto-Light"/>
              </a:rPr>
              <a:t>Research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Fellowship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 u="sng">
                <a:solidFill>
                  <a:srgbClr val="666666"/>
                </a:solidFill>
                <a:latin typeface="QQICHE+Roboto-Light"/>
                <a:cs typeface="QQICHE+Roboto-Light"/>
              </a:rPr>
              <a:t>(SURF)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for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2" u="sng">
                <a:solidFill>
                  <a:srgbClr val="666666"/>
                </a:solidFill>
                <a:latin typeface="QQICHE+Roboto-Light"/>
                <a:cs typeface="QQICHE+Roboto-Light"/>
              </a:rPr>
              <a:t>Summer</a:t>
            </a:r>
            <a:r>
              <a:rPr dirty="0" sz="800" u="sng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800" spc="10" u="sng">
                <a:solidFill>
                  <a:srgbClr val="666666"/>
                </a:solidFill>
                <a:latin typeface="QQICHE+Roboto-Light"/>
                <a:cs typeface="QQICHE+Roboto-Light"/>
              </a:rPr>
              <a:t>2020.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03150" y="576483"/>
            <a:ext cx="7539277" cy="4847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16"/>
              </a:lnSpc>
              <a:spcBef>
                <a:spcPts val="0"/>
              </a:spcBef>
              <a:spcAft>
                <a:spcPts val="0"/>
              </a:spcAft>
            </a:pPr>
            <a:r>
              <a:rPr dirty="0" sz="28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Recent</a:t>
            </a:r>
            <a:r>
              <a:rPr dirty="0" sz="28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28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Recipients</a:t>
            </a:r>
            <a:r>
              <a:rPr dirty="0" sz="28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28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of</a:t>
            </a:r>
            <a:r>
              <a:rPr dirty="0" sz="28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28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the</a:t>
            </a:r>
            <a:r>
              <a:rPr dirty="0" sz="28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28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SURF</a:t>
            </a:r>
            <a:r>
              <a:rPr dirty="0" sz="28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28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scholarship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74675" y="1592005"/>
            <a:ext cx="1492410" cy="50787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 b="1">
                <a:solidFill>
                  <a:srgbClr val="666666"/>
                </a:solidFill>
                <a:latin typeface="QDKLSE+Roboto-Bold"/>
                <a:cs typeface="QDKLSE+Roboto-Bold"/>
              </a:rPr>
              <a:t>Michelle</a:t>
            </a:r>
            <a:r>
              <a:rPr dirty="0" sz="1600" b="1">
                <a:solidFill>
                  <a:srgbClr val="666666"/>
                </a:solidFill>
                <a:latin typeface="QDKLSE+Roboto-Bold"/>
                <a:cs typeface="QDKLSE+Roboto-Bold"/>
              </a:rPr>
              <a:t> </a:t>
            </a:r>
            <a:r>
              <a:rPr dirty="0" sz="1600" b="1">
                <a:solidFill>
                  <a:srgbClr val="666666"/>
                </a:solidFill>
                <a:latin typeface="QDKLSE+Roboto-Bold"/>
                <a:cs typeface="QDKLSE+Roboto-Bold"/>
              </a:rPr>
              <a:t>(Nga)</a:t>
            </a:r>
          </a:p>
          <a:p>
            <a:pPr marL="0" marR="0">
              <a:lnSpc>
                <a:spcPts val="1824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 b="1">
                <a:solidFill>
                  <a:srgbClr val="666666"/>
                </a:solidFill>
                <a:latin typeface="QDKLSE+Roboto-Bold"/>
                <a:cs typeface="QDKLSE+Roboto-Bold"/>
              </a:rPr>
              <a:t>Thai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72150" y="1592005"/>
            <a:ext cx="1089868" cy="2762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 b="1">
                <a:solidFill>
                  <a:srgbClr val="666666"/>
                </a:solidFill>
                <a:latin typeface="QDKLSE+Roboto-Bold"/>
                <a:cs typeface="QDKLSE+Roboto-Bold"/>
              </a:rPr>
              <a:t>Rani</a:t>
            </a:r>
            <a:r>
              <a:rPr dirty="0" sz="1600" b="1">
                <a:solidFill>
                  <a:srgbClr val="666666"/>
                </a:solidFill>
                <a:latin typeface="QDKLSE+Roboto-Bold"/>
                <a:cs typeface="QDKLSE+Roboto-Bold"/>
              </a:rPr>
              <a:t> </a:t>
            </a:r>
            <a:r>
              <a:rPr dirty="0" sz="1600" b="1">
                <a:solidFill>
                  <a:srgbClr val="666666"/>
                </a:solidFill>
                <a:latin typeface="QDKLSE+Roboto-Bold"/>
                <a:cs typeface="QDKLSE+Roboto-Bold"/>
              </a:rPr>
              <a:t>Nune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414600" y="1611310"/>
            <a:ext cx="940692" cy="53225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 b="1">
                <a:solidFill>
                  <a:srgbClr val="666666"/>
                </a:solidFill>
                <a:latin typeface="QDKLSE+Roboto-Bold"/>
                <a:cs typeface="QDKLSE+Roboto-Bold"/>
              </a:rPr>
              <a:t>Shanzeh</a:t>
            </a:r>
          </a:p>
          <a:p>
            <a:pPr marL="0" marR="0">
              <a:lnSpc>
                <a:spcPts val="1875"/>
              </a:lnSpc>
              <a:spcBef>
                <a:spcPts val="140"/>
              </a:spcBef>
              <a:spcAft>
                <a:spcPts val="0"/>
              </a:spcAft>
            </a:pPr>
            <a:r>
              <a:rPr dirty="0" sz="1600" b="1">
                <a:solidFill>
                  <a:srgbClr val="666666"/>
                </a:solidFill>
                <a:latin typeface="QDKLSE+Roboto-Bold"/>
                <a:cs typeface="QDKLSE+Roboto-Bold"/>
              </a:rPr>
              <a:t>Imran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672150" y="1977013"/>
            <a:ext cx="1219230" cy="6080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400050" marR="0">
              <a:lnSpc>
                <a:spcPts val="1523"/>
              </a:lnSpc>
              <a:spcBef>
                <a:spcPts val="0"/>
              </a:spcBef>
              <a:spcAft>
                <a:spcPts val="0"/>
              </a:spcAft>
            </a:pPr>
            <a:r>
              <a:rPr dirty="0" sz="1300">
                <a:solidFill>
                  <a:srgbClr val="666666"/>
                </a:solidFill>
                <a:latin typeface="QQICHE+Roboto-Light"/>
                <a:cs typeface="QQICHE+Roboto-Light"/>
              </a:rPr>
              <a:t>Undergra</a:t>
            </a:r>
          </a:p>
          <a:p>
            <a:pPr marL="0" marR="0">
              <a:lnSpc>
                <a:spcPts val="148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00">
                <a:solidFill>
                  <a:srgbClr val="666666"/>
                </a:solidFill>
                <a:latin typeface="QQICHE+Roboto-Light"/>
                <a:cs typeface="QQICHE+Roboto-Light"/>
              </a:rPr>
              <a:t>duate</a:t>
            </a:r>
          </a:p>
          <a:p>
            <a:pPr marL="0" marR="0">
              <a:lnSpc>
                <a:spcPts val="148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00">
                <a:solidFill>
                  <a:srgbClr val="666666"/>
                </a:solidFill>
                <a:latin typeface="QQICHE+Roboto-Light"/>
                <a:cs typeface="QQICHE+Roboto-Light"/>
              </a:rPr>
              <a:t>Researcher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374675" y="2208661"/>
            <a:ext cx="1228935" cy="419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3"/>
              </a:lnSpc>
              <a:spcBef>
                <a:spcPts val="0"/>
              </a:spcBef>
              <a:spcAft>
                <a:spcPts val="0"/>
              </a:spcAft>
            </a:pPr>
            <a:r>
              <a:rPr dirty="0" sz="1300">
                <a:solidFill>
                  <a:srgbClr val="666666"/>
                </a:solidFill>
                <a:latin typeface="QQICHE+Roboto-Light"/>
                <a:cs typeface="QQICHE+Roboto-Light"/>
              </a:rPr>
              <a:t>Undergraduate</a:t>
            </a:r>
          </a:p>
          <a:p>
            <a:pPr marL="0" marR="0">
              <a:lnSpc>
                <a:spcPts val="148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00">
                <a:solidFill>
                  <a:srgbClr val="666666"/>
                </a:solidFill>
                <a:latin typeface="QQICHE+Roboto-Light"/>
                <a:cs typeface="QQICHE+Roboto-Light"/>
              </a:rPr>
              <a:t>Researcher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414600" y="2273114"/>
            <a:ext cx="1228935" cy="4396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3"/>
              </a:lnSpc>
              <a:spcBef>
                <a:spcPts val="0"/>
              </a:spcBef>
              <a:spcAft>
                <a:spcPts val="0"/>
              </a:spcAft>
            </a:pPr>
            <a:r>
              <a:rPr dirty="0" sz="1300">
                <a:solidFill>
                  <a:srgbClr val="666666"/>
                </a:solidFill>
                <a:latin typeface="QQICHE+Roboto-Light"/>
                <a:cs typeface="QQICHE+Roboto-Light"/>
              </a:rPr>
              <a:t>Undergraduate</a:t>
            </a:r>
          </a:p>
          <a:p>
            <a:pPr marL="0" marR="0">
              <a:lnSpc>
                <a:spcPts val="1523"/>
              </a:lnSpc>
              <a:spcBef>
                <a:spcPts val="164"/>
              </a:spcBef>
              <a:spcAft>
                <a:spcPts val="0"/>
              </a:spcAft>
            </a:pPr>
            <a:r>
              <a:rPr dirty="0" sz="1300">
                <a:solidFill>
                  <a:srgbClr val="666666"/>
                </a:solidFill>
                <a:latin typeface="QQICHE+Roboto-Light"/>
                <a:cs typeface="QQICHE+Roboto-Light"/>
              </a:rPr>
              <a:t>Researcher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271600" y="3015815"/>
            <a:ext cx="2566092" cy="14339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Her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research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focuses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on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will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focus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on</a:t>
            </a:r>
          </a:p>
          <a:p>
            <a:pPr marL="0" marR="0">
              <a:lnSpc>
                <a:spcPts val="1289"/>
              </a:lnSpc>
              <a:spcBef>
                <a:spcPts val="96"/>
              </a:spcBef>
              <a:spcAft>
                <a:spcPts val="0"/>
              </a:spcAft>
            </a:pP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identifying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novel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serum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proteins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and</a:t>
            </a:r>
          </a:p>
          <a:p>
            <a:pPr marL="0" marR="0">
              <a:lnSpc>
                <a:spcPts val="1289"/>
              </a:lnSpc>
              <a:spcBef>
                <a:spcPts val="96"/>
              </a:spcBef>
              <a:spcAft>
                <a:spcPts val="0"/>
              </a:spcAft>
            </a:pP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autoantibodies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for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blood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brain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barrier</a:t>
            </a:r>
          </a:p>
          <a:p>
            <a:pPr marL="0" marR="0">
              <a:lnSpc>
                <a:spcPts val="1289"/>
              </a:lnSpc>
              <a:spcBef>
                <a:spcPts val="46"/>
              </a:spcBef>
              <a:spcAft>
                <a:spcPts val="0"/>
              </a:spcAft>
            </a:pP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breach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in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neuropsychiatric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systemic</a:t>
            </a:r>
          </a:p>
          <a:p>
            <a:pPr marL="0" marR="0">
              <a:lnSpc>
                <a:spcPts val="1289"/>
              </a:lnSpc>
              <a:spcBef>
                <a:spcPts val="96"/>
              </a:spcBef>
              <a:spcAft>
                <a:spcPts val="0"/>
              </a:spcAft>
            </a:pP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lupus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erythematosus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using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proximity</a:t>
            </a:r>
          </a:p>
          <a:p>
            <a:pPr marL="0" marR="0">
              <a:lnSpc>
                <a:spcPts val="1289"/>
              </a:lnSpc>
              <a:spcBef>
                <a:spcPts val="96"/>
              </a:spcBef>
              <a:spcAft>
                <a:spcPts val="0"/>
              </a:spcAft>
            </a:pP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ligation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assays,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validating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top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hits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using</a:t>
            </a:r>
          </a:p>
          <a:p>
            <a:pPr marL="0" marR="0">
              <a:lnSpc>
                <a:spcPts val="1289"/>
              </a:lnSpc>
              <a:spcBef>
                <a:spcPts val="96"/>
              </a:spcBef>
              <a:spcAft>
                <a:spcPts val="0"/>
              </a:spcAft>
            </a:pP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ELISA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assays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and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researching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the</a:t>
            </a:r>
          </a:p>
          <a:p>
            <a:pPr marL="0" marR="0">
              <a:lnSpc>
                <a:spcPts val="1289"/>
              </a:lnSpc>
              <a:spcBef>
                <a:spcPts val="96"/>
              </a:spcBef>
              <a:spcAft>
                <a:spcPts val="0"/>
              </a:spcAft>
            </a:pP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biology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of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the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top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hits.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243399" y="3006353"/>
            <a:ext cx="2696672" cy="115735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Her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research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focus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is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on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ALCAM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(CD166),</a:t>
            </a:r>
          </a:p>
          <a:p>
            <a:pPr marL="0" marR="0">
              <a:lnSpc>
                <a:spcPts val="125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a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protein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biomarker,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and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the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mechanism</a:t>
            </a:r>
          </a:p>
          <a:p>
            <a:pPr marL="0" marR="0">
              <a:lnSpc>
                <a:spcPts val="125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by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which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it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promotes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the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development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of</a:t>
            </a:r>
          </a:p>
          <a:p>
            <a:pPr marL="0" marR="0">
              <a:lnSpc>
                <a:spcPts val="125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lupus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nephritis.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She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also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explores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the</a:t>
            </a:r>
          </a:p>
          <a:p>
            <a:pPr marL="0" marR="0">
              <a:lnSpc>
                <a:spcPts val="125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molecular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mechanisms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of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BANK1,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the</a:t>
            </a:r>
          </a:p>
          <a:p>
            <a:pPr marL="0" marR="0">
              <a:lnSpc>
                <a:spcPts val="125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disease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gene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for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SLE,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to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determine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how</a:t>
            </a:r>
          </a:p>
          <a:p>
            <a:pPr marL="0" marR="0">
              <a:lnSpc>
                <a:spcPts val="125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the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gene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promotes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autoimmunity.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03125" y="3049787"/>
            <a:ext cx="2445616" cy="13166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Her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research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focuses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on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developing</a:t>
            </a:r>
          </a:p>
          <a:p>
            <a:pPr marL="0" marR="0">
              <a:lnSpc>
                <a:spcPts val="125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and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optimizing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a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point-of-care</a:t>
            </a:r>
          </a:p>
          <a:p>
            <a:pPr marL="0" marR="0">
              <a:lnSpc>
                <a:spcPts val="125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diagnostic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test: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a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Schimer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strip-</a:t>
            </a:r>
          </a:p>
          <a:p>
            <a:pPr marL="0" marR="0">
              <a:lnSpc>
                <a:spcPts val="125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coupled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vertical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flow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essay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(VFA)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that</a:t>
            </a:r>
          </a:p>
          <a:p>
            <a:pPr marL="0" marR="0">
              <a:lnSpc>
                <a:spcPts val="125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will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be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used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to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detect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MMP-9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levels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in</a:t>
            </a:r>
          </a:p>
          <a:p>
            <a:pPr marL="0" marR="0">
              <a:lnSpc>
                <a:spcPts val="125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tears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of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Dry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Eye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disease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patients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in</a:t>
            </a:r>
          </a:p>
          <a:p>
            <a:pPr marL="0" marR="0">
              <a:lnSpc>
                <a:spcPts val="125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order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to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diagnose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and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quantify</a:t>
            </a:r>
          </a:p>
          <a:p>
            <a:pPr marL="0" marR="0">
              <a:lnSpc>
                <a:spcPts val="125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disease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 </a:t>
            </a:r>
            <a:r>
              <a:rPr dirty="0" sz="1100">
                <a:solidFill>
                  <a:srgbClr val="666666"/>
                </a:solidFill>
                <a:latin typeface="QQICHE+Roboto-Light"/>
                <a:cs typeface="QQICHE+Roboto-Light"/>
              </a:rPr>
              <a:t>severity.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502331" y="475127"/>
            <a:ext cx="3575997" cy="106887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813620" marR="0">
              <a:lnSpc>
                <a:spcPts val="2788"/>
              </a:lnSpc>
              <a:spcBef>
                <a:spcPts val="0"/>
              </a:spcBef>
              <a:spcAft>
                <a:spcPts val="0"/>
              </a:spcAft>
            </a:pPr>
            <a:r>
              <a:rPr dirty="0" sz="2200" spc="11">
                <a:solidFill>
                  <a:srgbClr val="ffffff"/>
                </a:solidFill>
                <a:latin typeface="SJTELL+Merriweather-Regular"/>
                <a:cs typeface="SJTELL+Merriweather-Regular"/>
              </a:rPr>
              <a:t>Openings</a:t>
            </a:r>
            <a:r>
              <a:rPr dirty="0" sz="22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2200" spc="1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for</a:t>
            </a:r>
          </a:p>
          <a:p>
            <a:pPr marL="0" marR="0">
              <a:lnSpc>
                <a:spcPts val="2663"/>
              </a:lnSpc>
              <a:spcBef>
                <a:spcPts val="0"/>
              </a:spcBef>
              <a:spcAft>
                <a:spcPts val="0"/>
              </a:spcAft>
            </a:pPr>
            <a:r>
              <a:rPr dirty="0" sz="2200" spc="1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Undergraduate</a:t>
            </a:r>
            <a:r>
              <a:rPr dirty="0" sz="22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2200" spc="1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Research</a:t>
            </a:r>
          </a:p>
          <a:p>
            <a:pPr marL="1062063" marR="0">
              <a:lnSpc>
                <a:spcPts val="2664"/>
              </a:lnSpc>
              <a:spcBef>
                <a:spcPts val="0"/>
              </a:spcBef>
              <a:spcAft>
                <a:spcPts val="0"/>
              </a:spcAft>
            </a:pPr>
            <a:r>
              <a:rPr dirty="0" sz="2200" spc="1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Positions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53939" y="589708"/>
            <a:ext cx="2197100" cy="4847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16"/>
              </a:lnSpc>
              <a:spcBef>
                <a:spcPts val="0"/>
              </a:spcBef>
              <a:spcAft>
                <a:spcPts val="0"/>
              </a:spcAft>
            </a:pPr>
            <a:r>
              <a:rPr dirty="0" sz="28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How</a:t>
            </a:r>
            <a:r>
              <a:rPr dirty="0" sz="28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28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to</a:t>
            </a:r>
            <a:r>
              <a:rPr dirty="0" sz="28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28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Join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724638" y="1987989"/>
            <a:ext cx="3131561" cy="7498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15855" marR="0">
              <a:lnSpc>
                <a:spcPts val="1925"/>
              </a:lnSpc>
              <a:spcBef>
                <a:spcPts val="0"/>
              </a:spcBef>
              <a:spcAft>
                <a:spcPts val="0"/>
              </a:spcAft>
            </a:pPr>
            <a:r>
              <a:rPr dirty="0" sz="1550" spc="-1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Good</a:t>
            </a:r>
            <a:r>
              <a:rPr dirty="0" sz="155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1550" spc="-1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academic</a:t>
            </a:r>
            <a:r>
              <a:rPr dirty="0" sz="155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155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standing</a:t>
            </a:r>
          </a:p>
          <a:p>
            <a:pPr marL="0" marR="0">
              <a:lnSpc>
                <a:spcPts val="1839"/>
              </a:lnSpc>
              <a:spcBef>
                <a:spcPts val="50"/>
              </a:spcBef>
              <a:spcAft>
                <a:spcPts val="0"/>
              </a:spcAft>
            </a:pPr>
            <a:r>
              <a:rPr dirty="0" sz="155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Interest</a:t>
            </a:r>
            <a:r>
              <a:rPr dirty="0" sz="155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155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in</a:t>
            </a:r>
            <a:r>
              <a:rPr dirty="0" sz="1550" spc="-1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155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pursuing</a:t>
            </a:r>
            <a:r>
              <a:rPr dirty="0" sz="155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1550" spc="-1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medical</a:t>
            </a:r>
            <a:r>
              <a:rPr dirty="0" sz="155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1550" spc="-1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or</a:t>
            </a:r>
          </a:p>
          <a:p>
            <a:pPr marL="692898" marR="0">
              <a:lnSpc>
                <a:spcPts val="183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5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graduate</a:t>
            </a:r>
            <a:r>
              <a:rPr dirty="0" sz="155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155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studies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03125" y="2043538"/>
            <a:ext cx="3084014" cy="6007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06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Volunteer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 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positions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 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are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 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available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 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to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 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UH</a:t>
            </a:r>
          </a:p>
          <a:p>
            <a:pPr marL="0" marR="0">
              <a:lnSpc>
                <a:spcPts val="1406"/>
              </a:lnSpc>
              <a:spcBef>
                <a:spcPts val="105"/>
              </a:spcBef>
              <a:spcAft>
                <a:spcPts val="0"/>
              </a:spcAft>
            </a:pP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undergraduates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 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interested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 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in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 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participating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 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in</a:t>
            </a:r>
          </a:p>
          <a:p>
            <a:pPr marL="0" marR="0">
              <a:lnSpc>
                <a:spcPts val="1406"/>
              </a:lnSpc>
              <a:spcBef>
                <a:spcPts val="105"/>
              </a:spcBef>
              <a:spcAft>
                <a:spcPts val="0"/>
              </a:spcAft>
            </a:pP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medically-oriented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 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research.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687318" y="2688877"/>
            <a:ext cx="3200481" cy="51626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25"/>
              </a:lnSpc>
              <a:spcBef>
                <a:spcPts val="0"/>
              </a:spcBef>
              <a:spcAft>
                <a:spcPts val="0"/>
              </a:spcAft>
            </a:pPr>
            <a:r>
              <a:rPr dirty="0" sz="1550" spc="-1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Devote</a:t>
            </a:r>
            <a:r>
              <a:rPr dirty="0" sz="155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1550" spc="-1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two</a:t>
            </a:r>
            <a:r>
              <a:rPr dirty="0" sz="155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1550" spc="-1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or</a:t>
            </a:r>
            <a:r>
              <a:rPr dirty="0" sz="155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1550" spc="-11">
                <a:solidFill>
                  <a:srgbClr val="ffffff"/>
                </a:solidFill>
                <a:latin typeface="SJTELL+Merriweather-Regular"/>
                <a:cs typeface="SJTELL+Merriweather-Regular"/>
              </a:rPr>
              <a:t>more</a:t>
            </a:r>
            <a:r>
              <a:rPr dirty="0" sz="155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1550" spc="-1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semester</a:t>
            </a:r>
            <a:r>
              <a:rPr dirty="0" sz="155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155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to</a:t>
            </a:r>
          </a:p>
          <a:p>
            <a:pPr marL="846106" marR="0">
              <a:lnSpc>
                <a:spcPts val="1839"/>
              </a:lnSpc>
              <a:spcBef>
                <a:spcPts val="50"/>
              </a:spcBef>
              <a:spcAft>
                <a:spcPts val="0"/>
              </a:spcAft>
            </a:pPr>
            <a:r>
              <a:rPr dirty="0" sz="155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research</a:t>
            </a:r>
            <a:r>
              <a:rPr dirty="0" sz="155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1550" spc="-1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work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03125" y="2772010"/>
            <a:ext cx="2896911" cy="40871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06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No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 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research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 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experience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 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is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 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required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 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as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 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the</a:t>
            </a:r>
          </a:p>
          <a:p>
            <a:pPr marL="0" marR="0">
              <a:lnSpc>
                <a:spcPts val="1406"/>
              </a:lnSpc>
              <a:spcBef>
                <a:spcPts val="105"/>
              </a:spcBef>
              <a:spcAft>
                <a:spcPts val="0"/>
              </a:spcAft>
            </a:pP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necessary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 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skills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 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will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 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be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 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taught.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03125" y="3308458"/>
            <a:ext cx="2968700" cy="40871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06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Ability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 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to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 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balance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 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ongoing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 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coursework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 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and</a:t>
            </a:r>
          </a:p>
          <a:p>
            <a:pPr marL="0" marR="0">
              <a:lnSpc>
                <a:spcPts val="1406"/>
              </a:lnSpc>
              <a:spcBef>
                <a:spcPts val="105"/>
              </a:spcBef>
              <a:spcAft>
                <a:spcPts val="0"/>
              </a:spcAft>
            </a:pP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laboratory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 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research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 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is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 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critical.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669049" y="3697507"/>
            <a:ext cx="3243071" cy="87386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Forward</a:t>
            </a:r>
            <a:r>
              <a:rPr dirty="0" sz="18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18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resume</a:t>
            </a:r>
            <a:r>
              <a:rPr dirty="0" sz="18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18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(w/GPA)</a:t>
            </a:r>
            <a:r>
              <a:rPr dirty="0" sz="18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18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&amp;</a:t>
            </a:r>
          </a:p>
          <a:p>
            <a:pPr marL="179455" marR="0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brief</a:t>
            </a:r>
            <a:r>
              <a:rPr dirty="0" sz="18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18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description</a:t>
            </a:r>
            <a:r>
              <a:rPr dirty="0" sz="18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18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of</a:t>
            </a:r>
            <a:r>
              <a:rPr dirty="0" sz="18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 </a:t>
            </a:r>
            <a:r>
              <a:rPr dirty="0" sz="1800">
                <a:solidFill>
                  <a:srgbClr val="ffffff"/>
                </a:solidFill>
                <a:latin typeface="SJTELL+Merriweather-Regular"/>
                <a:cs typeface="SJTELL+Merriweather-Regular"/>
              </a:rPr>
              <a:t>your</a:t>
            </a:r>
          </a:p>
          <a:p>
            <a:pPr marL="389700" marR="0">
              <a:lnSpc>
                <a:spcPts val="2159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ffffff"/>
                </a:solidFill>
                <a:latin typeface="SJTELL+Merriweather-Regular"/>
                <a:cs typeface="SJTELL+Merriweather-Regular"/>
                <a:hlinkClick r:id="rId3"/>
              </a:rPr>
              <a:t>research</a:t>
            </a:r>
            <a:r>
              <a:rPr dirty="0" sz="1800">
                <a:solidFill>
                  <a:srgbClr val="ffffff"/>
                </a:solidFill>
                <a:latin typeface="SJTELL+Merriweather-Regular"/>
                <a:cs typeface="SJTELL+Merriweather-Regular"/>
                <a:hlinkClick r:id="rId3"/>
              </a:rPr>
              <a:t> </a:t>
            </a:r>
            <a:r>
              <a:rPr dirty="0" sz="1800">
                <a:solidFill>
                  <a:srgbClr val="ffffff"/>
                </a:solidFill>
                <a:latin typeface="SJTELL+Merriweather-Regular"/>
                <a:cs typeface="SJTELL+Merriweather-Regular"/>
                <a:hlinkClick r:id="rId3"/>
              </a:rPr>
              <a:t>interests</a:t>
            </a:r>
            <a:r>
              <a:rPr dirty="0" sz="1800">
                <a:solidFill>
                  <a:srgbClr val="ffffff"/>
                </a:solidFill>
                <a:latin typeface="SJTELL+Merriweather-Regular"/>
                <a:cs typeface="SJTELL+Merriweather-Regular"/>
                <a:hlinkClick r:id="rId3"/>
              </a:rPr>
              <a:t> </a:t>
            </a:r>
            <a:r>
              <a:rPr dirty="0" sz="1800">
                <a:solidFill>
                  <a:srgbClr val="ffffff"/>
                </a:solidFill>
                <a:latin typeface="SJTELL+Merriweather-Regular"/>
                <a:cs typeface="SJTELL+Merriweather-Regular"/>
                <a:hlinkClick r:id="rId3"/>
              </a:rPr>
              <a:t>to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03125" y="3844907"/>
            <a:ext cx="2846113" cy="6007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06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Undergraduate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 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students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 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are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 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strongly</a:t>
            </a:r>
          </a:p>
          <a:p>
            <a:pPr marL="0" marR="0">
              <a:lnSpc>
                <a:spcPts val="1406"/>
              </a:lnSpc>
              <a:spcBef>
                <a:spcPts val="105"/>
              </a:spcBef>
              <a:spcAft>
                <a:spcPts val="0"/>
              </a:spcAft>
            </a:pP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encouraged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 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to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 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apply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 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for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 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SURF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 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and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 </a:t>
            </a: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PURS</a:t>
            </a:r>
          </a:p>
          <a:p>
            <a:pPr marL="0" marR="0">
              <a:lnSpc>
                <a:spcPts val="1406"/>
              </a:lnSpc>
              <a:spcBef>
                <a:spcPts val="105"/>
              </a:spcBef>
              <a:spcAft>
                <a:spcPts val="0"/>
              </a:spcAft>
            </a:pPr>
            <a:r>
              <a:rPr dirty="0" sz="1200">
                <a:solidFill>
                  <a:srgbClr val="d9c4b1"/>
                </a:solidFill>
                <a:latin typeface="QQICHE+Roboto-Light"/>
                <a:cs typeface="QQICHE+Roboto-Light"/>
              </a:rPr>
              <a:t>funding.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822212" y="4520467"/>
            <a:ext cx="2935834" cy="32522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u="sng">
                <a:solidFill>
                  <a:srgbClr val="009384"/>
                </a:solidFill>
                <a:latin typeface="SJTELL+Merriweather-Regular"/>
                <a:cs typeface="SJTELL+Merriweather-Regular"/>
                <a:hlinkClick r:id="rId3"/>
              </a:rPr>
              <a:t>cmohan@central.uh.edu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PresentationFormat>On-screen Show (4:3)</PresentationFormat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cp:revision>1</cp:revision>
  <dcterms:modified xsi:type="dcterms:W3CDTF">2022-05-02T02:04:39-05:00</dcterms:modified>
</cp:coreProperties>
</file>